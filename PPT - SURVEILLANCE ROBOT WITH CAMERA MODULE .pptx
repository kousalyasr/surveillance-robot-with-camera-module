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Open Sans" panose="020B0606030504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h+MhTHsAq6r3GZuVevRo6jlqnx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52" d="100"/>
          <a:sy n="52" d="100"/>
        </p:scale>
        <p:origin x="629"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9"/>
          <p:cNvSpPr>
            <a:spLocks noGrp="1"/>
          </p:cNvSpPr>
          <p:nvPr>
            <p:ph type="pic" idx="2"/>
          </p:nvPr>
        </p:nvSpPr>
        <p:spPr>
          <a:xfrm>
            <a:off x="1792288" y="612775"/>
            <a:ext cx="5486400" cy="4114800"/>
          </a:xfrm>
          <a:prstGeom prst="rect">
            <a:avLst/>
          </a:prstGeom>
          <a:noFill/>
          <a:ln>
            <a:noFill/>
          </a:ln>
        </p:spPr>
      </p:sp>
      <p:sp>
        <p:nvSpPr>
          <p:cNvPr id="64" name="Google Shape;64;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hyperlink" Target="http://en.wikipedia.org/wiki/Artificial_intelligence"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http://science.howstuffworks.com/robot2.htm"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83"/>
        <p:cNvGrpSpPr/>
        <p:nvPr/>
      </p:nvGrpSpPr>
      <p:grpSpPr>
        <a:xfrm>
          <a:off x="0" y="0"/>
          <a:ext cx="0" cy="0"/>
          <a:chOff x="0" y="0"/>
          <a:chExt cx="0" cy="0"/>
        </a:xfrm>
      </p:grpSpPr>
      <p:sp>
        <p:nvSpPr>
          <p:cNvPr id="84" name="Google Shape;84;p1"/>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85" name="Google Shape;85;p1"/>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86" name="Google Shape;86;p1"/>
          <p:cNvCxnSpPr/>
          <p:nvPr/>
        </p:nvCxnSpPr>
        <p:spPr>
          <a:xfrm rot="2206">
            <a:off x="1738071" y="1479456"/>
            <a:ext cx="14960103" cy="0"/>
          </a:xfrm>
          <a:prstGeom prst="straightConnector1">
            <a:avLst/>
          </a:prstGeom>
          <a:noFill/>
          <a:ln w="9525" cap="rnd" cmpd="sng">
            <a:solidFill>
              <a:srgbClr val="FFFFFF"/>
            </a:solidFill>
            <a:prstDash val="solid"/>
            <a:round/>
            <a:headEnd type="none" w="sm" len="sm"/>
            <a:tailEnd type="none" w="sm" len="sm"/>
          </a:ln>
        </p:spPr>
      </p:cxnSp>
      <p:sp>
        <p:nvSpPr>
          <p:cNvPr id="87" name="Google Shape;87;p1"/>
          <p:cNvSpPr/>
          <p:nvPr/>
        </p:nvSpPr>
        <p:spPr>
          <a:xfrm>
            <a:off x="22" y="9501474"/>
            <a:ext cx="18283238" cy="96012"/>
          </a:xfrm>
          <a:custGeom>
            <a:avLst/>
            <a:gdLst/>
            <a:ahLst/>
            <a:cxnLst/>
            <a:rect l="l" t="t" r="r" b="b"/>
            <a:pathLst>
              <a:path w="24377650" h="128016" extrusionOk="0">
                <a:moveTo>
                  <a:pt x="0" y="0"/>
                </a:moveTo>
                <a:lnTo>
                  <a:pt x="24377650" y="0"/>
                </a:lnTo>
                <a:lnTo>
                  <a:pt x="24377650" y="128016"/>
                </a:lnTo>
                <a:lnTo>
                  <a:pt x="0" y="128016"/>
                </a:lnTo>
                <a:close/>
              </a:path>
            </a:pathLst>
          </a:custGeom>
          <a:solidFill>
            <a:srgbClr val="AD84C6"/>
          </a:solidFill>
          <a:ln>
            <a:noFill/>
          </a:ln>
        </p:spPr>
      </p:sp>
      <p:cxnSp>
        <p:nvCxnSpPr>
          <p:cNvPr id="88" name="Google Shape;88;p1"/>
          <p:cNvCxnSpPr/>
          <p:nvPr/>
        </p:nvCxnSpPr>
        <p:spPr>
          <a:xfrm rot="2226">
            <a:off x="1806723" y="6267688"/>
            <a:ext cx="14822703" cy="0"/>
          </a:xfrm>
          <a:prstGeom prst="straightConnector1">
            <a:avLst/>
          </a:prstGeom>
          <a:noFill/>
          <a:ln w="9525" cap="rnd" cmpd="sng">
            <a:solidFill>
              <a:srgbClr val="FFFFFF"/>
            </a:solidFill>
            <a:prstDash val="solid"/>
            <a:round/>
            <a:headEnd type="none" w="sm" len="sm"/>
            <a:tailEnd type="none" w="sm" len="sm"/>
          </a:ln>
        </p:spPr>
      </p:cxnSp>
      <p:sp>
        <p:nvSpPr>
          <p:cNvPr id="89" name="Google Shape;89;p1"/>
          <p:cNvSpPr txBox="1"/>
          <p:nvPr/>
        </p:nvSpPr>
        <p:spPr>
          <a:xfrm>
            <a:off x="1867024" y="2364110"/>
            <a:ext cx="14702100" cy="2605585"/>
          </a:xfrm>
          <a:prstGeom prst="rect">
            <a:avLst/>
          </a:prstGeom>
          <a:noFill/>
          <a:ln>
            <a:noFill/>
          </a:ln>
        </p:spPr>
        <p:txBody>
          <a:bodyPr spcFirstLastPara="1" wrap="square" lIns="0" tIns="0" rIns="0" bIns="0" anchor="t" anchorCtr="0">
            <a:spAutoFit/>
          </a:bodyPr>
          <a:lstStyle/>
          <a:p>
            <a:pPr marL="0" marR="0" lvl="0" indent="0" algn="ctr" rtl="0">
              <a:lnSpc>
                <a:spcPct val="102000"/>
              </a:lnSpc>
              <a:spcBef>
                <a:spcPts val="0"/>
              </a:spcBef>
              <a:spcAft>
                <a:spcPts val="0"/>
              </a:spcAft>
              <a:buNone/>
            </a:pPr>
            <a:r>
              <a:rPr lang="en-US" sz="8300" dirty="0">
                <a:solidFill>
                  <a:srgbClr val="FFFFFF"/>
                </a:solidFill>
                <a:latin typeface="Open Sans"/>
                <a:ea typeface="Open Sans"/>
                <a:cs typeface="Open Sans"/>
                <a:sym typeface="Open Sans"/>
              </a:rPr>
              <a:t>SURVEILLANCE ROBOT WITH CAMERA MODULE</a:t>
            </a:r>
            <a:r>
              <a:rPr lang="en-US" sz="8300" b="0" i="0" u="none" strike="noStrike" cap="none" dirty="0">
                <a:solidFill>
                  <a:srgbClr val="FFFFFF"/>
                </a:solidFill>
                <a:latin typeface="Open Sans"/>
                <a:ea typeface="Open Sans"/>
                <a:cs typeface="Open Sans"/>
                <a:sym typeface="Open Sans"/>
              </a:rPr>
              <a:t> 🤖</a:t>
            </a:r>
            <a:endParaRPr sz="500" dirty="0"/>
          </a:p>
        </p:txBody>
      </p:sp>
      <p:sp>
        <p:nvSpPr>
          <p:cNvPr id="90" name="Google Shape;90;p1"/>
          <p:cNvSpPr txBox="1"/>
          <p:nvPr/>
        </p:nvSpPr>
        <p:spPr>
          <a:xfrm>
            <a:off x="9275371" y="6908099"/>
            <a:ext cx="15401400" cy="1600500"/>
          </a:xfrm>
          <a:prstGeom prst="rect">
            <a:avLst/>
          </a:prstGeom>
          <a:noFill/>
          <a:ln>
            <a:noFill/>
          </a:ln>
        </p:spPr>
        <p:txBody>
          <a:bodyPr spcFirstLastPara="1" wrap="square" lIns="0" tIns="0" rIns="0" bIns="0" anchor="t" anchorCtr="0">
            <a:spAutoFit/>
          </a:bodyPr>
          <a:lstStyle/>
          <a:p>
            <a:pPr marL="0" marR="0" lvl="0" indent="0" algn="l" rtl="0">
              <a:lnSpc>
                <a:spcPct val="108001"/>
              </a:lnSpc>
              <a:spcBef>
                <a:spcPts val="0"/>
              </a:spcBef>
              <a:spcAft>
                <a:spcPts val="0"/>
              </a:spcAft>
              <a:buNone/>
            </a:pPr>
            <a:r>
              <a:rPr lang="en-US" sz="4999" b="1" i="0" u="none" strike="noStrike" cap="none">
                <a:solidFill>
                  <a:srgbClr val="D9D9D9"/>
                </a:solidFill>
                <a:latin typeface="Open Sans"/>
                <a:ea typeface="Open Sans"/>
                <a:cs typeface="Open Sans"/>
                <a:sym typeface="Open Sans"/>
              </a:rPr>
              <a:t>22BCE5225 - S R KOUSALYA </a:t>
            </a:r>
            <a:endParaRPr sz="900"/>
          </a:p>
          <a:p>
            <a:pPr marL="0" marR="0" lvl="0" indent="0" algn="l" rtl="0">
              <a:lnSpc>
                <a:spcPct val="108001"/>
              </a:lnSpc>
              <a:spcBef>
                <a:spcPts val="0"/>
              </a:spcBef>
              <a:spcAft>
                <a:spcPts val="0"/>
              </a:spcAft>
              <a:buNone/>
            </a:pPr>
            <a:r>
              <a:rPr lang="en-US" sz="4999" b="1" i="0" u="none" strike="noStrike" cap="none">
                <a:solidFill>
                  <a:srgbClr val="D9D9D9"/>
                </a:solidFill>
                <a:latin typeface="Open Sans"/>
                <a:ea typeface="Open Sans"/>
                <a:cs typeface="Open Sans"/>
                <a:sym typeface="Open Sans"/>
              </a:rPr>
              <a:t>22BCE5233 - HARINI L</a:t>
            </a:r>
            <a:endParaRPr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94"/>
        <p:cNvGrpSpPr/>
        <p:nvPr/>
      </p:nvGrpSpPr>
      <p:grpSpPr>
        <a:xfrm>
          <a:off x="0" y="0"/>
          <a:ext cx="0" cy="0"/>
          <a:chOff x="0" y="0"/>
          <a:chExt cx="0" cy="0"/>
        </a:xfrm>
      </p:grpSpPr>
      <p:sp>
        <p:nvSpPr>
          <p:cNvPr id="95" name="Google Shape;95;p2"/>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96" name="Google Shape;96;p2"/>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97" name="Google Shape;97;p2"/>
          <p:cNvCxnSpPr/>
          <p:nvPr/>
        </p:nvCxnSpPr>
        <p:spPr>
          <a:xfrm rot="2206">
            <a:off x="1785396" y="1714881"/>
            <a:ext cx="14960103" cy="0"/>
          </a:xfrm>
          <a:prstGeom prst="straightConnector1">
            <a:avLst/>
          </a:prstGeom>
          <a:noFill/>
          <a:ln w="9525" cap="rnd" cmpd="sng">
            <a:solidFill>
              <a:srgbClr val="FFFFFF"/>
            </a:solidFill>
            <a:prstDash val="solid"/>
            <a:round/>
            <a:headEnd type="none" w="sm" len="sm"/>
            <a:tailEnd type="none" w="sm" len="sm"/>
          </a:ln>
        </p:spPr>
      </p:cxnSp>
      <p:sp>
        <p:nvSpPr>
          <p:cNvPr id="98" name="Google Shape;98;p2"/>
          <p:cNvSpPr txBox="1"/>
          <p:nvPr/>
        </p:nvSpPr>
        <p:spPr>
          <a:xfrm>
            <a:off x="1813159" y="779124"/>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a:solidFill>
                  <a:srgbClr val="FFFFFF"/>
                </a:solidFill>
              </a:rPr>
              <a:t>ABSTRACT:</a:t>
            </a:r>
            <a:endParaRPr sz="4500"/>
          </a:p>
        </p:txBody>
      </p:sp>
      <p:sp>
        <p:nvSpPr>
          <p:cNvPr id="99" name="Google Shape;99;p2"/>
          <p:cNvSpPr txBox="1"/>
          <p:nvPr/>
        </p:nvSpPr>
        <p:spPr>
          <a:xfrm>
            <a:off x="1442347" y="2371132"/>
            <a:ext cx="15646200" cy="5983176"/>
          </a:xfrm>
          <a:prstGeom prst="rect">
            <a:avLst/>
          </a:prstGeom>
          <a:noFill/>
          <a:ln>
            <a:noFill/>
          </a:ln>
        </p:spPr>
        <p:txBody>
          <a:bodyPr spcFirstLastPara="1" wrap="square" lIns="0" tIns="0" rIns="0" bIns="0" anchor="t" anchorCtr="0">
            <a:spAutoFit/>
          </a:bodyPr>
          <a:lstStyle/>
          <a:p>
            <a:pPr marL="379189" lvl="1" algn="just">
              <a:lnSpc>
                <a:spcPct val="108002"/>
              </a:lnSpc>
              <a:buClr>
                <a:srgbClr val="FFFFFF"/>
              </a:buClr>
              <a:buSzPts val="3000"/>
            </a:pPr>
            <a:r>
              <a:rPr lang="en-US" sz="4000" dirty="0">
                <a:solidFill>
                  <a:schemeClr val="bg1"/>
                </a:solidFill>
              </a:rPr>
              <a:t>This presentation introduces an innovative web-controlled surveillance vehicle designed for remote monitoring applications. Equipped with integrated cameras, sensors, and a secure web interface, the system enables users to remotely control the vehicle and perform surveillance operations through a dedicated website. The project focuses on the technical design, user interface, and practical applications of the system, highlighting its potential to enhance remote monitoring, security, and surveillance capabilities across various sectors.</a:t>
            </a:r>
            <a:endParaRPr sz="40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03"/>
        <p:cNvGrpSpPr/>
        <p:nvPr/>
      </p:nvGrpSpPr>
      <p:grpSpPr>
        <a:xfrm>
          <a:off x="0" y="0"/>
          <a:ext cx="0" cy="0"/>
          <a:chOff x="0" y="0"/>
          <a:chExt cx="0" cy="0"/>
        </a:xfrm>
      </p:grpSpPr>
      <p:sp>
        <p:nvSpPr>
          <p:cNvPr id="104" name="Google Shape;104;p3"/>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05" name="Google Shape;105;p3"/>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06" name="Google Shape;106;p3"/>
          <p:cNvCxnSpPr/>
          <p:nvPr/>
        </p:nvCxnSpPr>
        <p:spPr>
          <a:xfrm>
            <a:off x="1664010" y="2095357"/>
            <a:ext cx="14960100" cy="9600"/>
          </a:xfrm>
          <a:prstGeom prst="straightConnector1">
            <a:avLst/>
          </a:prstGeom>
          <a:noFill/>
          <a:ln w="9525" cap="rnd" cmpd="sng">
            <a:solidFill>
              <a:srgbClr val="FFFFFF"/>
            </a:solidFill>
            <a:prstDash val="solid"/>
            <a:round/>
            <a:headEnd type="none" w="sm" len="sm"/>
            <a:tailEnd type="none" w="sm" len="sm"/>
          </a:ln>
        </p:spPr>
      </p:cxnSp>
      <p:sp>
        <p:nvSpPr>
          <p:cNvPr id="107" name="Google Shape;107;p3"/>
          <p:cNvSpPr txBox="1"/>
          <p:nvPr/>
        </p:nvSpPr>
        <p:spPr>
          <a:xfrm>
            <a:off x="1691725" y="470000"/>
            <a:ext cx="14904600" cy="1412694"/>
          </a:xfrm>
          <a:prstGeom prst="rect">
            <a:avLst/>
          </a:prstGeom>
          <a:noFill/>
          <a:ln>
            <a:noFill/>
          </a:ln>
        </p:spPr>
        <p:txBody>
          <a:bodyPr spcFirstLastPara="1" wrap="square" lIns="0" tIns="0" rIns="0" bIns="0" anchor="t" anchorCtr="0">
            <a:spAutoFit/>
          </a:bodyPr>
          <a:lstStyle/>
          <a:p>
            <a:pPr lvl="0">
              <a:lnSpc>
                <a:spcPct val="102000"/>
              </a:lnSpc>
            </a:pPr>
            <a:r>
              <a:rPr lang="en-US" sz="4500" dirty="0">
                <a:solidFill>
                  <a:schemeClr val="bg1"/>
                </a:solidFill>
              </a:rPr>
              <a:t>A vehicle with Control through a website and Bluetooth Control Robot with WIFI</a:t>
            </a:r>
          </a:p>
        </p:txBody>
      </p:sp>
      <p:sp>
        <p:nvSpPr>
          <p:cNvPr id="108" name="Google Shape;108;p3"/>
          <p:cNvSpPr txBox="1"/>
          <p:nvPr/>
        </p:nvSpPr>
        <p:spPr>
          <a:xfrm>
            <a:off x="1249948" y="2953096"/>
            <a:ext cx="15788103" cy="5597751"/>
          </a:xfrm>
          <a:prstGeom prst="rect">
            <a:avLst/>
          </a:prstGeom>
          <a:noFill/>
          <a:ln>
            <a:noFill/>
          </a:ln>
        </p:spPr>
        <p:txBody>
          <a:bodyPr spcFirstLastPara="1" wrap="square" lIns="0" tIns="0" rIns="0" bIns="0" anchor="t" anchorCtr="0">
            <a:spAutoFit/>
          </a:bodyPr>
          <a:lstStyle/>
          <a:p>
            <a:pPr marL="561022" lvl="1" indent="-280511" algn="just">
              <a:lnSpc>
                <a:spcPct val="86414"/>
              </a:lnSpc>
            </a:pPr>
            <a:r>
              <a:rPr lang="en-US" sz="3500" dirty="0">
                <a:solidFill>
                  <a:schemeClr val="bg1"/>
                </a:solidFill>
              </a:rPr>
              <a:t>  </a:t>
            </a:r>
            <a:r>
              <a:rPr lang="en-US" sz="3600" dirty="0">
                <a:solidFill>
                  <a:schemeClr val="bg1"/>
                </a:solidFill>
              </a:rPr>
              <a:t>The "</a:t>
            </a:r>
            <a:r>
              <a:rPr lang="en-US" sz="3600" dirty="0" err="1">
                <a:solidFill>
                  <a:schemeClr val="bg1"/>
                </a:solidFill>
              </a:rPr>
              <a:t>WiFi</a:t>
            </a:r>
            <a:r>
              <a:rPr lang="en-US" sz="3600" dirty="0">
                <a:solidFill>
                  <a:schemeClr val="bg1"/>
                </a:solidFill>
              </a:rPr>
              <a:t> Car" is a groundbreaking mobile platform that integrates both website-controlled and Bluetooth-enabled functionalities, revolutionizing remote operation and surveillance capabilities. Equipped with cameras and sensors, this vehicle can be navigated and managed through a secure website interface from any internet-connected device, offering seamless remote control. Simultaneously, its Bluetooth control robot mode allows for direct interaction within a limited range, ensuring flexibility in operation. This fusion of website-based control and Bluetooth connectivity embodies a versatile and adaptable surveillance solution, showcasing the potential for advanced remote monitoring across diverse environments and applications.</a:t>
            </a:r>
          </a:p>
          <a:p>
            <a:pPr marL="561022" marR="0" lvl="1" indent="-280511" algn="l" rtl="0">
              <a:lnSpc>
                <a:spcPct val="86414"/>
              </a:lnSpc>
              <a:spcBef>
                <a:spcPts val="0"/>
              </a:spcBef>
              <a:spcAft>
                <a:spcPts val="0"/>
              </a:spcAft>
              <a:buNone/>
            </a:pPr>
            <a:endParaRPr sz="2699" b="0" i="0" u="none" strike="noStrike" cap="none" dirty="0">
              <a:solidFill>
                <a:srgbClr val="FFFFFF"/>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12"/>
        <p:cNvGrpSpPr/>
        <p:nvPr/>
      </p:nvGrpSpPr>
      <p:grpSpPr>
        <a:xfrm>
          <a:off x="0" y="0"/>
          <a:ext cx="0" cy="0"/>
          <a:chOff x="0" y="0"/>
          <a:chExt cx="0" cy="0"/>
        </a:xfrm>
      </p:grpSpPr>
      <p:sp>
        <p:nvSpPr>
          <p:cNvPr id="113" name="Google Shape;113;p4"/>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14" name="Google Shape;114;p4"/>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15" name="Google Shape;115;p4"/>
          <p:cNvCxnSpPr/>
          <p:nvPr/>
        </p:nvCxnSpPr>
        <p:spPr>
          <a:xfrm rot="2206">
            <a:off x="1500721" y="1714331"/>
            <a:ext cx="14960103" cy="0"/>
          </a:xfrm>
          <a:prstGeom prst="straightConnector1">
            <a:avLst/>
          </a:prstGeom>
          <a:noFill/>
          <a:ln w="9525" cap="rnd" cmpd="sng">
            <a:solidFill>
              <a:srgbClr val="FFFFFF"/>
            </a:solidFill>
            <a:prstDash val="solid"/>
            <a:round/>
            <a:headEnd type="none" w="sm" len="sm"/>
            <a:tailEnd type="none" w="sm" len="sm"/>
          </a:ln>
        </p:spPr>
      </p:cxnSp>
      <p:sp>
        <p:nvSpPr>
          <p:cNvPr id="116" name="Google Shape;116;p4"/>
          <p:cNvSpPr txBox="1"/>
          <p:nvPr/>
        </p:nvSpPr>
        <p:spPr>
          <a:xfrm>
            <a:off x="1500722" y="677382"/>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dirty="0">
                <a:solidFill>
                  <a:srgbClr val="FFFFFF"/>
                </a:solidFill>
              </a:rPr>
              <a:t>PROBLEM STATEMENT:</a:t>
            </a:r>
            <a:endParaRPr sz="4500" dirty="0"/>
          </a:p>
        </p:txBody>
      </p:sp>
      <p:sp>
        <p:nvSpPr>
          <p:cNvPr id="117" name="Google Shape;117;p4"/>
          <p:cNvSpPr txBox="1"/>
          <p:nvPr/>
        </p:nvSpPr>
        <p:spPr>
          <a:xfrm>
            <a:off x="1528475" y="2016050"/>
            <a:ext cx="15807900" cy="22410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None/>
            </a:pPr>
            <a:r>
              <a:rPr lang="en-US" sz="2500" i="0" u="none" strike="noStrike" cap="none" dirty="0">
                <a:solidFill>
                  <a:srgbClr val="FFFFFF"/>
                </a:solidFill>
              </a:rPr>
              <a:t>I</a:t>
            </a:r>
            <a:r>
              <a:rPr lang="en-US" sz="2600" i="0" u="none" strike="noStrike" cap="none" dirty="0">
                <a:solidFill>
                  <a:srgbClr val="FFFFFF"/>
                </a:solidFill>
              </a:rPr>
              <a:t>n modern surveillance systems, the challenge lies in ensuring effective monitoring and security, especially in crowded or complex environments. Traditional surveillance vehicles often face obstacles in their path, hindering their ability to navigate and capture crucial data. These obstacles can include people, vehicles, or various objects, leading to blind spots and compromised security coverage. The inability to avoid obstacles in real-time poses a significant problem, limiting the surveillance system's efficiency and reliability.</a:t>
            </a:r>
            <a:endParaRPr sz="2600" dirty="0"/>
          </a:p>
        </p:txBody>
      </p:sp>
      <p:sp>
        <p:nvSpPr>
          <p:cNvPr id="118" name="Google Shape;118;p4"/>
          <p:cNvSpPr txBox="1"/>
          <p:nvPr/>
        </p:nvSpPr>
        <p:spPr>
          <a:xfrm>
            <a:off x="1528475" y="4408764"/>
            <a:ext cx="16002000" cy="5321457"/>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None/>
            </a:pPr>
            <a:r>
              <a:rPr lang="en-US" sz="2600" b="1" i="0" u="none" strike="noStrike" cap="none" dirty="0">
                <a:solidFill>
                  <a:schemeClr val="lt1"/>
                </a:solidFill>
              </a:rPr>
              <a:t>SOLUTION AND SOCIAL NEED:</a:t>
            </a:r>
          </a:p>
          <a:p>
            <a:pPr algn="just"/>
            <a:r>
              <a:rPr lang="en-US" sz="2600" dirty="0">
                <a:solidFill>
                  <a:schemeClr val="bg1"/>
                </a:solidFill>
              </a:rPr>
              <a:t>Developing a robust and secure system for real-time surveillance utilizing a camera module integrated into a web-controlled bot, ensuring seamless remote access and efficient monitoring while addressing potential cybersecurity risks and data privacy concerns.</a:t>
            </a:r>
          </a:p>
          <a:p>
            <a:pPr algn="just"/>
            <a:endParaRPr lang="en-US" sz="2600" dirty="0">
              <a:solidFill>
                <a:schemeClr val="bg1"/>
              </a:solidFill>
            </a:endParaRPr>
          </a:p>
          <a:p>
            <a:pPr algn="just"/>
            <a:r>
              <a:rPr lang="en-US" sz="2600" dirty="0">
                <a:solidFill>
                  <a:schemeClr val="bg1"/>
                </a:solidFill>
              </a:rPr>
              <a:t>In military and tunnel surveillance scenarios, there's a critical societal need for advanced remote monitoring systems employing web-controlled bots with integrated surveillance camera modules. These systems serve to enhance situational awareness, security, and safety measures in high-risk environments. By deploying such technology, military personnel and security teams can remotely navigate and monitor areas that are inaccessible or hazardous, thereby reducing human risk exposure during reconnaissance missions, tunnel inspections, or security patrols. This innovation addresses the societal imperative of safeguarding lives, securing critical infrastructure, and ensuring effective surveillance in challenging operational settings.</a:t>
            </a:r>
          </a:p>
          <a:p>
            <a:pPr marL="0" marR="0" lvl="0" indent="0" algn="just" rtl="0">
              <a:lnSpc>
                <a:spcPct val="115000"/>
              </a:lnSpc>
              <a:spcBef>
                <a:spcPts val="0"/>
              </a:spcBef>
              <a:spcAft>
                <a:spcPts val="0"/>
              </a:spcAft>
              <a:buNone/>
            </a:pPr>
            <a:endParaRPr sz="26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22"/>
        <p:cNvGrpSpPr/>
        <p:nvPr/>
      </p:nvGrpSpPr>
      <p:grpSpPr>
        <a:xfrm>
          <a:off x="0" y="0"/>
          <a:ext cx="0" cy="0"/>
          <a:chOff x="0" y="0"/>
          <a:chExt cx="0" cy="0"/>
        </a:xfrm>
      </p:grpSpPr>
      <p:sp>
        <p:nvSpPr>
          <p:cNvPr id="123" name="Google Shape;123;p5"/>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24" name="Google Shape;124;p5"/>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25" name="Google Shape;125;p5"/>
          <p:cNvCxnSpPr/>
          <p:nvPr/>
        </p:nvCxnSpPr>
        <p:spPr>
          <a:xfrm rot="2206">
            <a:off x="1494109" y="1526456"/>
            <a:ext cx="14960103" cy="0"/>
          </a:xfrm>
          <a:prstGeom prst="straightConnector1">
            <a:avLst/>
          </a:prstGeom>
          <a:noFill/>
          <a:ln w="9525" cap="rnd" cmpd="sng">
            <a:solidFill>
              <a:srgbClr val="FFFFFF"/>
            </a:solidFill>
            <a:prstDash val="solid"/>
            <a:round/>
            <a:headEnd type="none" w="sm" len="sm"/>
            <a:tailEnd type="none" w="sm" len="sm"/>
          </a:ln>
        </p:spPr>
      </p:cxnSp>
      <p:sp>
        <p:nvSpPr>
          <p:cNvPr id="126" name="Google Shape;126;p5"/>
          <p:cNvSpPr txBox="1"/>
          <p:nvPr/>
        </p:nvSpPr>
        <p:spPr>
          <a:xfrm>
            <a:off x="1549485" y="714817"/>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a:solidFill>
                  <a:srgbClr val="FFFFFF"/>
                </a:solidFill>
              </a:rPr>
              <a:t>MARKET AND COMPETITORS:</a:t>
            </a:r>
            <a:endParaRPr sz="4500"/>
          </a:p>
        </p:txBody>
      </p:sp>
      <p:sp>
        <p:nvSpPr>
          <p:cNvPr id="127" name="Google Shape;127;p5"/>
          <p:cNvSpPr txBox="1"/>
          <p:nvPr/>
        </p:nvSpPr>
        <p:spPr>
          <a:xfrm>
            <a:off x="1600195" y="1811046"/>
            <a:ext cx="15087600" cy="7898700"/>
          </a:xfrm>
          <a:prstGeom prst="rect">
            <a:avLst/>
          </a:prstGeom>
          <a:noFill/>
          <a:ln>
            <a:noFill/>
          </a:ln>
        </p:spPr>
        <p:txBody>
          <a:bodyPr spcFirstLastPara="1" wrap="square" lIns="0" tIns="0" rIns="0" bIns="0" anchor="t" anchorCtr="0">
            <a:spAutoFit/>
          </a:bodyPr>
          <a:lstStyle/>
          <a:p>
            <a:pPr marL="579120" marR="0" lvl="1" indent="-283210" algn="just" rtl="0">
              <a:lnSpc>
                <a:spcPct val="97187"/>
              </a:lnSpc>
              <a:spcBef>
                <a:spcPts val="0"/>
              </a:spcBef>
              <a:spcAft>
                <a:spcPts val="0"/>
              </a:spcAft>
              <a:buClr>
                <a:srgbClr val="FFFFFF"/>
              </a:buClr>
              <a:buSzPts val="3100"/>
              <a:buFont typeface="Arial"/>
              <a:buChar char="•"/>
            </a:pPr>
            <a:r>
              <a:rPr lang="en-US" sz="3100" b="1" i="0" u="none" strike="noStrike" cap="none" dirty="0">
                <a:solidFill>
                  <a:srgbClr val="FFFFFF"/>
                </a:solidFill>
              </a:rPr>
              <a:t>LEGO Mindstorms:</a:t>
            </a:r>
            <a:r>
              <a:rPr lang="en-US" sz="3100" i="0" u="none" strike="noStrike" cap="none" dirty="0">
                <a:solidFill>
                  <a:srgbClr val="FFFFFF"/>
                </a:solidFill>
              </a:rPr>
              <a:t> LEGO offers programmable robotics kits that allow users to build and control robots. While it may not have all the advanced features, it's a popular choice for educational purposes.</a:t>
            </a:r>
            <a:endParaRPr sz="1300" dirty="0"/>
          </a:p>
          <a:p>
            <a:pPr marL="579120" marR="0" lvl="1" indent="-283210" algn="just" rtl="0">
              <a:lnSpc>
                <a:spcPct val="97187"/>
              </a:lnSpc>
              <a:spcBef>
                <a:spcPts val="0"/>
              </a:spcBef>
              <a:spcAft>
                <a:spcPts val="0"/>
              </a:spcAft>
              <a:buClr>
                <a:srgbClr val="FFFFFF"/>
              </a:buClr>
              <a:buSzPts val="3100"/>
              <a:buFont typeface="Arial"/>
              <a:buChar char="•"/>
            </a:pPr>
            <a:r>
              <a:rPr lang="en-US" sz="3100" b="1" i="0" u="none" strike="noStrike" cap="none" dirty="0" err="1">
                <a:solidFill>
                  <a:srgbClr val="FFFFFF"/>
                </a:solidFill>
              </a:rPr>
              <a:t>Makeblock</a:t>
            </a:r>
            <a:r>
              <a:rPr lang="en-US" sz="3100" b="1" i="0" u="none" strike="noStrike" cap="none" dirty="0">
                <a:solidFill>
                  <a:srgbClr val="FFFFFF"/>
                </a:solidFill>
              </a:rPr>
              <a:t>:</a:t>
            </a:r>
            <a:r>
              <a:rPr lang="en-US" sz="3100" i="0" u="none" strike="noStrike" cap="none" dirty="0">
                <a:solidFill>
                  <a:srgbClr val="FFFFFF"/>
                </a:solidFill>
              </a:rPr>
              <a:t> </a:t>
            </a:r>
            <a:r>
              <a:rPr lang="en-US" sz="3100" i="0" u="none" strike="noStrike" cap="none" dirty="0" err="1">
                <a:solidFill>
                  <a:srgbClr val="FFFFFF"/>
                </a:solidFill>
              </a:rPr>
              <a:t>Makeblock</a:t>
            </a:r>
            <a:r>
              <a:rPr lang="en-US" sz="3100" i="0" u="none" strike="noStrike" cap="none" dirty="0">
                <a:solidFill>
                  <a:srgbClr val="FFFFFF"/>
                </a:solidFill>
              </a:rPr>
              <a:t> provides a range of robotic kits, including those with obstacle avoidance and Bluetooth control features, targeting both education and hobbyist markets.</a:t>
            </a:r>
            <a:endParaRPr sz="1300" dirty="0"/>
          </a:p>
          <a:p>
            <a:pPr marL="579120" marR="0" lvl="1" indent="-283210" algn="just" rtl="0">
              <a:lnSpc>
                <a:spcPct val="97187"/>
              </a:lnSpc>
              <a:spcBef>
                <a:spcPts val="0"/>
              </a:spcBef>
              <a:spcAft>
                <a:spcPts val="0"/>
              </a:spcAft>
              <a:buClr>
                <a:srgbClr val="FFFFFF"/>
              </a:buClr>
              <a:buSzPts val="3100"/>
              <a:buFont typeface="Arial"/>
              <a:buChar char="•"/>
            </a:pPr>
            <a:r>
              <a:rPr lang="en-US" sz="3100" b="1" i="0" u="none" strike="noStrike" cap="none" dirty="0" err="1">
                <a:solidFill>
                  <a:srgbClr val="FFFFFF"/>
                </a:solidFill>
              </a:rPr>
              <a:t>Robolink</a:t>
            </a:r>
            <a:r>
              <a:rPr lang="en-US" sz="3100" b="1" i="0" u="none" strike="noStrike" cap="none" dirty="0">
                <a:solidFill>
                  <a:srgbClr val="FFFFFF"/>
                </a:solidFill>
              </a:rPr>
              <a:t>:</a:t>
            </a:r>
            <a:r>
              <a:rPr lang="en-US" sz="3100" i="0" u="none" strike="noStrike" cap="none" dirty="0">
                <a:solidFill>
                  <a:srgbClr val="FFFFFF"/>
                </a:solidFill>
              </a:rPr>
              <a:t> </a:t>
            </a:r>
            <a:r>
              <a:rPr lang="en-US" sz="3100" i="0" u="none" strike="noStrike" cap="none" dirty="0" err="1">
                <a:solidFill>
                  <a:srgbClr val="FFFFFF"/>
                </a:solidFill>
              </a:rPr>
              <a:t>Robolink</a:t>
            </a:r>
            <a:r>
              <a:rPr lang="en-US" sz="3100" i="0" u="none" strike="noStrike" cap="none" dirty="0">
                <a:solidFill>
                  <a:srgbClr val="FFFFFF"/>
                </a:solidFill>
              </a:rPr>
              <a:t> offers educational robotics kits that include features like obstacle avoidance and programmable modules. They focus on providing learning experiences for students and enthusiasts.</a:t>
            </a:r>
            <a:endParaRPr sz="1300" dirty="0"/>
          </a:p>
          <a:p>
            <a:pPr marL="579120" marR="0" lvl="1" indent="-283210" algn="just" rtl="0">
              <a:lnSpc>
                <a:spcPct val="97187"/>
              </a:lnSpc>
              <a:spcBef>
                <a:spcPts val="0"/>
              </a:spcBef>
              <a:spcAft>
                <a:spcPts val="0"/>
              </a:spcAft>
              <a:buClr>
                <a:srgbClr val="FFFFFF"/>
              </a:buClr>
              <a:buSzPts val="3100"/>
              <a:buFont typeface="Arial"/>
              <a:buChar char="•"/>
            </a:pPr>
            <a:r>
              <a:rPr lang="en-US" sz="3100" b="1" i="0" u="none" strike="noStrike" cap="none" dirty="0">
                <a:solidFill>
                  <a:srgbClr val="FFFFFF"/>
                </a:solidFill>
              </a:rPr>
              <a:t>Wonder Workshop:</a:t>
            </a:r>
            <a:r>
              <a:rPr lang="en-US" sz="3100" i="0" u="none" strike="noStrike" cap="none" dirty="0">
                <a:solidFill>
                  <a:srgbClr val="FFFFFF"/>
                </a:solidFill>
              </a:rPr>
              <a:t> Wonder Workshop produces educational robots like Dash and Cue, which are designed to teach programming and robotics concepts to children. While they may not have the exact specifications mentioned, they operate in a similar educational space.</a:t>
            </a:r>
            <a:endParaRPr sz="1300" dirty="0"/>
          </a:p>
          <a:p>
            <a:pPr marL="579120" marR="0" lvl="1" indent="-283210" algn="just" rtl="0">
              <a:lnSpc>
                <a:spcPct val="97187"/>
              </a:lnSpc>
              <a:spcBef>
                <a:spcPts val="0"/>
              </a:spcBef>
              <a:spcAft>
                <a:spcPts val="0"/>
              </a:spcAft>
              <a:buClr>
                <a:srgbClr val="FFFFFF"/>
              </a:buClr>
              <a:buSzPts val="3100"/>
              <a:buFont typeface="Arial"/>
              <a:buChar char="•"/>
            </a:pPr>
            <a:r>
              <a:rPr lang="en-US" sz="3100" b="1" i="0" u="none" strike="noStrike" cap="none" dirty="0">
                <a:solidFill>
                  <a:srgbClr val="FFFFFF"/>
                </a:solidFill>
              </a:rPr>
              <a:t>Arduino-based Robotics Kits:</a:t>
            </a:r>
            <a:r>
              <a:rPr lang="en-US" sz="3100" i="0" u="none" strike="noStrike" cap="none" dirty="0">
                <a:solidFill>
                  <a:srgbClr val="FFFFFF"/>
                </a:solidFill>
              </a:rPr>
              <a:t> Various companies and individuals create custom Arduino-based robotics kits with obstacle avoidance, Bluetooth control, and voice command capabilities. These cater to the DIY and hobbyist market.</a:t>
            </a:r>
            <a:endParaRPr sz="1300" dirty="0"/>
          </a:p>
          <a:p>
            <a:pPr marL="579120" marR="0" lvl="1" indent="-289560" algn="l" rtl="0">
              <a:lnSpc>
                <a:spcPct val="97187"/>
              </a:lnSpc>
              <a:spcBef>
                <a:spcPts val="0"/>
              </a:spcBef>
              <a:spcAft>
                <a:spcPts val="0"/>
              </a:spcAft>
              <a:buNone/>
            </a:pPr>
            <a:endParaRPr sz="3200" b="0" i="0" u="none" strike="noStrike" cap="none" dirty="0">
              <a:solidFill>
                <a:srgbClr val="FFFFFF"/>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31"/>
        <p:cNvGrpSpPr/>
        <p:nvPr/>
      </p:nvGrpSpPr>
      <p:grpSpPr>
        <a:xfrm>
          <a:off x="0" y="0"/>
          <a:ext cx="0" cy="0"/>
          <a:chOff x="0" y="0"/>
          <a:chExt cx="0" cy="0"/>
        </a:xfrm>
      </p:grpSpPr>
      <p:sp>
        <p:nvSpPr>
          <p:cNvPr id="132" name="Google Shape;132;p6"/>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33" name="Google Shape;133;p6"/>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34" name="Google Shape;134;p6"/>
          <p:cNvCxnSpPr/>
          <p:nvPr/>
        </p:nvCxnSpPr>
        <p:spPr>
          <a:xfrm rot="2206">
            <a:off x="1664021" y="1338531"/>
            <a:ext cx="14960103" cy="0"/>
          </a:xfrm>
          <a:prstGeom prst="straightConnector1">
            <a:avLst/>
          </a:prstGeom>
          <a:noFill/>
          <a:ln w="9525" cap="rnd" cmpd="sng">
            <a:solidFill>
              <a:srgbClr val="FFFFFF"/>
            </a:solidFill>
            <a:prstDash val="solid"/>
            <a:round/>
            <a:headEnd type="none" w="sm" len="sm"/>
            <a:tailEnd type="none" w="sm" len="sm"/>
          </a:ln>
        </p:spPr>
      </p:cxnSp>
      <p:sp>
        <p:nvSpPr>
          <p:cNvPr id="135" name="Google Shape;135;p6"/>
          <p:cNvSpPr txBox="1"/>
          <p:nvPr/>
        </p:nvSpPr>
        <p:spPr>
          <a:xfrm>
            <a:off x="1813159" y="512616"/>
            <a:ext cx="14904600" cy="706347"/>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dirty="0">
                <a:solidFill>
                  <a:srgbClr val="FFFFFF"/>
                </a:solidFill>
              </a:rPr>
              <a:t>EXISTING PATENTS AND PRODUCTS:</a:t>
            </a:r>
            <a:endParaRPr sz="4500" dirty="0"/>
          </a:p>
        </p:txBody>
      </p:sp>
      <p:sp>
        <p:nvSpPr>
          <p:cNvPr id="136" name="Google Shape;136;p6"/>
          <p:cNvSpPr txBox="1"/>
          <p:nvPr/>
        </p:nvSpPr>
        <p:spPr>
          <a:xfrm>
            <a:off x="1721659" y="2312281"/>
            <a:ext cx="15087600" cy="5971507"/>
          </a:xfrm>
          <a:prstGeom prst="rect">
            <a:avLst/>
          </a:prstGeom>
          <a:noFill/>
          <a:ln>
            <a:noFill/>
          </a:ln>
        </p:spPr>
        <p:txBody>
          <a:bodyPr spcFirstLastPara="1" wrap="square" lIns="0" tIns="0" rIns="0" bIns="0" anchor="t" anchorCtr="0">
            <a:spAutoFit/>
          </a:bodyPr>
          <a:lstStyle/>
          <a:p>
            <a:pPr algn="just"/>
            <a:r>
              <a:rPr lang="en-US" sz="3400" dirty="0">
                <a:solidFill>
                  <a:schemeClr val="bg1"/>
                </a:solidFill>
              </a:rPr>
              <a:t>US Patent US20180012554A1 - "Remote Control Robot and Control Method Thereof": This patent covers remote-controlled robots, including those equipped with cameras for surveillance purposes.</a:t>
            </a:r>
          </a:p>
          <a:p>
            <a:pPr algn="just"/>
            <a:r>
              <a:rPr lang="en-US" sz="3400" dirty="0">
                <a:solidFill>
                  <a:schemeClr val="bg1"/>
                </a:solidFill>
              </a:rPr>
              <a:t>US Patent US20190361238A1 - "Automated Surveillance Drone System and Method": While not directly related to ground-based bots, this patent involves drone technology with surveillance capabilities that might share some concepts applicable to ground-based surveillance bots.</a:t>
            </a:r>
          </a:p>
          <a:p>
            <a:pPr algn="just"/>
            <a:r>
              <a:rPr lang="en-US" sz="3400" dirty="0">
                <a:solidFill>
                  <a:schemeClr val="bg1"/>
                </a:solidFill>
              </a:rPr>
              <a:t>US Patent US20190143312A1 - "Method for Remotely Operating Robot and System Thereof": This patent might involve aspects related to remote operation of robots, potentially applicable to surveillance bots controlled via a website interface.</a:t>
            </a:r>
          </a:p>
          <a:p>
            <a:pPr marL="597218" marR="0" lvl="1" indent="-292259" algn="just" rtl="0">
              <a:lnSpc>
                <a:spcPct val="108000"/>
              </a:lnSpc>
              <a:spcBef>
                <a:spcPts val="0"/>
              </a:spcBef>
              <a:spcAft>
                <a:spcPts val="0"/>
              </a:spcAft>
              <a:buClr>
                <a:srgbClr val="FFFFFF"/>
              </a:buClr>
              <a:buSzPts val="3200"/>
              <a:buFont typeface="Arial"/>
              <a:buChar char="•"/>
            </a:pPr>
            <a:endParaRPr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40"/>
        <p:cNvGrpSpPr/>
        <p:nvPr/>
      </p:nvGrpSpPr>
      <p:grpSpPr>
        <a:xfrm>
          <a:off x="0" y="0"/>
          <a:ext cx="0" cy="0"/>
          <a:chOff x="0" y="0"/>
          <a:chExt cx="0" cy="0"/>
        </a:xfrm>
      </p:grpSpPr>
      <p:sp>
        <p:nvSpPr>
          <p:cNvPr id="141" name="Google Shape;141;p7"/>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42" name="Google Shape;142;p7"/>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43" name="Google Shape;143;p7"/>
          <p:cNvCxnSpPr/>
          <p:nvPr/>
        </p:nvCxnSpPr>
        <p:spPr>
          <a:xfrm rot="2206">
            <a:off x="1618246" y="1573406"/>
            <a:ext cx="14960103" cy="0"/>
          </a:xfrm>
          <a:prstGeom prst="straightConnector1">
            <a:avLst/>
          </a:prstGeom>
          <a:noFill/>
          <a:ln w="9525" cap="rnd" cmpd="sng">
            <a:solidFill>
              <a:srgbClr val="FFFFFF"/>
            </a:solidFill>
            <a:prstDash val="solid"/>
            <a:round/>
            <a:headEnd type="none" w="sm" len="sm"/>
            <a:tailEnd type="none" w="sm" len="sm"/>
          </a:ln>
        </p:spPr>
      </p:cxnSp>
      <p:sp>
        <p:nvSpPr>
          <p:cNvPr id="144" name="Google Shape;144;p7"/>
          <p:cNvSpPr txBox="1"/>
          <p:nvPr/>
        </p:nvSpPr>
        <p:spPr>
          <a:xfrm>
            <a:off x="1645935" y="695620"/>
            <a:ext cx="14904600" cy="706347"/>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dirty="0">
                <a:solidFill>
                  <a:srgbClr val="FFFFFF"/>
                </a:solidFill>
              </a:rPr>
              <a:t>BLOCK DIAGRAM OF BOARD DESCRIPTION:</a:t>
            </a:r>
            <a:endParaRPr sz="4500" dirty="0"/>
          </a:p>
        </p:txBody>
      </p:sp>
      <p:sp>
        <p:nvSpPr>
          <p:cNvPr id="145" name="Google Shape;145;p7"/>
          <p:cNvSpPr txBox="1"/>
          <p:nvPr/>
        </p:nvSpPr>
        <p:spPr>
          <a:xfrm>
            <a:off x="1462920" y="2106346"/>
            <a:ext cx="15087600" cy="6677100"/>
          </a:xfrm>
          <a:prstGeom prst="rect">
            <a:avLst/>
          </a:prstGeom>
          <a:noFill/>
          <a:ln>
            <a:noFill/>
          </a:ln>
        </p:spPr>
        <p:txBody>
          <a:bodyPr spcFirstLastPara="1" wrap="square" lIns="0" tIns="0" rIns="0" bIns="0" anchor="t" anchorCtr="0">
            <a:spAutoFit/>
          </a:bodyPr>
          <a:lstStyle/>
          <a:p>
            <a:pPr marL="914400" marR="0" lvl="0" indent="0" algn="just" rtl="0">
              <a:lnSpc>
                <a:spcPct val="108000"/>
              </a:lnSpc>
              <a:spcBef>
                <a:spcPts val="0"/>
              </a:spcBef>
              <a:spcAft>
                <a:spcPts val="0"/>
              </a:spcAft>
              <a:buNone/>
            </a:pPr>
            <a:r>
              <a:rPr lang="en-US" sz="4500" i="0" u="none" strike="noStrike" cap="none" dirty="0">
                <a:solidFill>
                  <a:srgbClr val="FFFFFF"/>
                </a:solidFill>
              </a:rPr>
              <a:t>When Car start Lidar and </a:t>
            </a:r>
            <a:r>
              <a:rPr lang="en-US" sz="4500" i="0" u="none" strike="noStrike" cap="none" dirty="0" err="1">
                <a:solidFill>
                  <a:srgbClr val="FFFFFF"/>
                </a:solidFill>
              </a:rPr>
              <a:t>Colour</a:t>
            </a:r>
            <a:r>
              <a:rPr lang="en-US" sz="4500" i="0" u="none" strike="noStrike" cap="none" dirty="0">
                <a:solidFill>
                  <a:srgbClr val="FFFFFF"/>
                </a:solidFill>
              </a:rPr>
              <a:t> Sensor send their input to microcontroller. With the received information from Sensors, microcontroller decide to take next decision like Start, Stop, Move Forward, Move Backward, Turn Right, Turn Left, etc. Microcontroller end instruction to the motor driver for controlling motors with respective input taken from sensor. Regulated power supply is connected to the microcontroller as well as motor driver.</a:t>
            </a:r>
            <a:endParaRPr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49"/>
        <p:cNvGrpSpPr/>
        <p:nvPr/>
      </p:nvGrpSpPr>
      <p:grpSpPr>
        <a:xfrm>
          <a:off x="0" y="0"/>
          <a:ext cx="0" cy="0"/>
          <a:chOff x="0" y="0"/>
          <a:chExt cx="0" cy="0"/>
        </a:xfrm>
      </p:grpSpPr>
      <p:sp>
        <p:nvSpPr>
          <p:cNvPr id="150" name="Google Shape;150;p8"/>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51" name="Google Shape;151;p8"/>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52" name="Google Shape;152;p8"/>
          <p:cNvCxnSpPr/>
          <p:nvPr/>
        </p:nvCxnSpPr>
        <p:spPr>
          <a:xfrm rot="2206">
            <a:off x="1663971" y="1455981"/>
            <a:ext cx="14960103" cy="0"/>
          </a:xfrm>
          <a:prstGeom prst="straightConnector1">
            <a:avLst/>
          </a:prstGeom>
          <a:noFill/>
          <a:ln w="9525" cap="rnd" cmpd="sng">
            <a:solidFill>
              <a:srgbClr val="FFFFFF"/>
            </a:solidFill>
            <a:prstDash val="solid"/>
            <a:round/>
            <a:headEnd type="none" w="sm" len="sm"/>
            <a:tailEnd type="none" w="sm" len="sm"/>
          </a:ln>
        </p:spPr>
      </p:cxnSp>
      <p:sp>
        <p:nvSpPr>
          <p:cNvPr id="153" name="Google Shape;153;p8"/>
          <p:cNvSpPr txBox="1"/>
          <p:nvPr/>
        </p:nvSpPr>
        <p:spPr>
          <a:xfrm>
            <a:off x="1691648" y="599410"/>
            <a:ext cx="14904600" cy="706347"/>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dirty="0">
                <a:solidFill>
                  <a:srgbClr val="FFFFFF"/>
                </a:solidFill>
              </a:rPr>
              <a:t>BLOCK DIAGRAM OF BOARD</a:t>
            </a:r>
            <a:r>
              <a:rPr lang="en-US" sz="4500" b="1" i="0" u="none" strike="noStrike" cap="none" dirty="0">
                <a:solidFill>
                  <a:srgbClr val="FFFFFF"/>
                </a:solidFill>
              </a:rPr>
              <a:t>:</a:t>
            </a:r>
            <a:endParaRPr sz="4500" dirty="0"/>
          </a:p>
        </p:txBody>
      </p:sp>
      <p:pic>
        <p:nvPicPr>
          <p:cNvPr id="5" name="Picture 4">
            <a:extLst>
              <a:ext uri="{FF2B5EF4-FFF2-40B4-BE49-F238E27FC236}">
                <a16:creationId xmlns:a16="http://schemas.microsoft.com/office/drawing/2014/main" id="{BE4BE35E-BC3B-02A1-37BA-F4BE7801DF81}"/>
              </a:ext>
            </a:extLst>
          </p:cNvPr>
          <p:cNvPicPr>
            <a:picLocks noChangeAspect="1"/>
          </p:cNvPicPr>
          <p:nvPr/>
        </p:nvPicPr>
        <p:blipFill>
          <a:blip r:embed="rId3"/>
          <a:stretch>
            <a:fillRect/>
          </a:stretch>
        </p:blipFill>
        <p:spPr>
          <a:xfrm>
            <a:off x="1753977" y="2637419"/>
            <a:ext cx="14941288" cy="50668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58"/>
        <p:cNvGrpSpPr/>
        <p:nvPr/>
      </p:nvGrpSpPr>
      <p:grpSpPr>
        <a:xfrm>
          <a:off x="0" y="0"/>
          <a:ext cx="0" cy="0"/>
          <a:chOff x="0" y="0"/>
          <a:chExt cx="0" cy="0"/>
        </a:xfrm>
      </p:grpSpPr>
      <p:sp>
        <p:nvSpPr>
          <p:cNvPr id="159" name="Google Shape;159;p9"/>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60" name="Google Shape;160;p9"/>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61" name="Google Shape;161;p9"/>
          <p:cNvCxnSpPr/>
          <p:nvPr/>
        </p:nvCxnSpPr>
        <p:spPr>
          <a:xfrm rot="2206">
            <a:off x="1663934" y="1455956"/>
            <a:ext cx="14960103" cy="0"/>
          </a:xfrm>
          <a:prstGeom prst="straightConnector1">
            <a:avLst/>
          </a:prstGeom>
          <a:noFill/>
          <a:ln w="9525" cap="rnd" cmpd="sng">
            <a:solidFill>
              <a:srgbClr val="FFFFFF"/>
            </a:solidFill>
            <a:prstDash val="solid"/>
            <a:round/>
            <a:headEnd type="none" w="sm" len="sm"/>
            <a:tailEnd type="none" w="sm" len="sm"/>
          </a:ln>
        </p:spPr>
      </p:cxnSp>
      <p:sp>
        <p:nvSpPr>
          <p:cNvPr id="162" name="Google Shape;162;p9"/>
          <p:cNvSpPr txBox="1"/>
          <p:nvPr/>
        </p:nvSpPr>
        <p:spPr>
          <a:xfrm>
            <a:off x="1691673" y="589198"/>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a:solidFill>
                  <a:srgbClr val="FFFFFF"/>
                </a:solidFill>
              </a:rPr>
              <a:t>BLOCK DIAGRAM:</a:t>
            </a:r>
            <a:endParaRPr sz="4500"/>
          </a:p>
        </p:txBody>
      </p:sp>
      <p:sp>
        <p:nvSpPr>
          <p:cNvPr id="163" name="Google Shape;163;p9"/>
          <p:cNvSpPr/>
          <p:nvPr/>
        </p:nvSpPr>
        <p:spPr>
          <a:xfrm>
            <a:off x="2868175" y="1918775"/>
            <a:ext cx="13456534" cy="6739193"/>
          </a:xfrm>
          <a:custGeom>
            <a:avLst/>
            <a:gdLst/>
            <a:ahLst/>
            <a:cxnLst/>
            <a:rect l="l" t="t" r="r" b="b"/>
            <a:pathLst>
              <a:path w="11988004" h="5885758" extrusionOk="0">
                <a:moveTo>
                  <a:pt x="0" y="0"/>
                </a:moveTo>
                <a:lnTo>
                  <a:pt x="11988004" y="0"/>
                </a:lnTo>
                <a:lnTo>
                  <a:pt x="11988004" y="5885759"/>
                </a:lnTo>
                <a:lnTo>
                  <a:pt x="0" y="5885759"/>
                </a:lnTo>
                <a:lnTo>
                  <a:pt x="0" y="0"/>
                </a:lnTo>
                <a:close/>
              </a:path>
            </a:pathLst>
          </a:custGeom>
          <a:blipFill rotWithShape="1">
            <a:blip r:embed="rId3">
              <a:alphaModFix/>
            </a:blip>
            <a:stretch>
              <a:fillRect/>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67"/>
        <p:cNvGrpSpPr/>
        <p:nvPr/>
      </p:nvGrpSpPr>
      <p:grpSpPr>
        <a:xfrm>
          <a:off x="0" y="0"/>
          <a:ext cx="0" cy="0"/>
          <a:chOff x="0" y="0"/>
          <a:chExt cx="0" cy="0"/>
        </a:xfrm>
      </p:grpSpPr>
      <p:sp>
        <p:nvSpPr>
          <p:cNvPr id="168" name="Google Shape;168;p10"/>
          <p:cNvSpPr txBox="1"/>
          <p:nvPr/>
        </p:nvSpPr>
        <p:spPr>
          <a:xfrm>
            <a:off x="253650" y="537450"/>
            <a:ext cx="14218500" cy="12315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a:solidFill>
                  <a:srgbClr val="FFFFFF"/>
                </a:solidFill>
              </a:rPr>
              <a:t>       </a:t>
            </a:r>
            <a:r>
              <a:rPr lang="en-US" sz="4500" b="1" i="0" u="none" strike="noStrike" cap="none">
                <a:solidFill>
                  <a:srgbClr val="FFFFFF"/>
                </a:solidFill>
              </a:rPr>
              <a:t>HARDWARE SPECIFICATIONS:</a:t>
            </a:r>
            <a:r>
              <a:rPr lang="en-US" sz="8000" b="1" i="0" u="none" strike="noStrike" cap="none">
                <a:solidFill>
                  <a:srgbClr val="FFFFFF"/>
                </a:solidFill>
                <a:latin typeface="Open Sans"/>
                <a:ea typeface="Open Sans"/>
                <a:cs typeface="Open Sans"/>
                <a:sym typeface="Open Sans"/>
              </a:rPr>
              <a:t> </a:t>
            </a:r>
            <a:endParaRPr/>
          </a:p>
        </p:txBody>
      </p:sp>
      <p:cxnSp>
        <p:nvCxnSpPr>
          <p:cNvPr id="169" name="Google Shape;169;p10"/>
          <p:cNvCxnSpPr/>
          <p:nvPr/>
        </p:nvCxnSpPr>
        <p:spPr>
          <a:xfrm rot="10800000" flipH="1">
            <a:off x="1181116" y="1770894"/>
            <a:ext cx="15498900" cy="109800"/>
          </a:xfrm>
          <a:prstGeom prst="straightConnector1">
            <a:avLst/>
          </a:prstGeom>
          <a:noFill/>
          <a:ln w="38100" cap="flat" cmpd="sng">
            <a:solidFill>
              <a:srgbClr val="FFFFFF"/>
            </a:solidFill>
            <a:prstDash val="solid"/>
            <a:round/>
            <a:headEnd type="none" w="sm" len="sm"/>
            <a:tailEnd type="none" w="sm" len="sm"/>
          </a:ln>
        </p:spPr>
      </p:cxnSp>
      <p:sp>
        <p:nvSpPr>
          <p:cNvPr id="170" name="Google Shape;170;p10"/>
          <p:cNvSpPr txBox="1"/>
          <p:nvPr/>
        </p:nvSpPr>
        <p:spPr>
          <a:xfrm>
            <a:off x="1555859" y="2780865"/>
            <a:ext cx="11142131" cy="4944430"/>
          </a:xfrm>
          <a:prstGeom prst="rect">
            <a:avLst/>
          </a:prstGeom>
          <a:noFill/>
          <a:ln>
            <a:noFill/>
          </a:ln>
        </p:spPr>
        <p:txBody>
          <a:bodyPr spcFirstLastPara="1" wrap="square" lIns="0" tIns="0" rIns="0" bIns="0" anchor="t" anchorCtr="0">
            <a:spAutoFit/>
          </a:bodyPr>
          <a:lstStyle/>
          <a:p>
            <a:pPr marL="0" marR="0" lvl="0" indent="0" rtl="0">
              <a:lnSpc>
                <a:spcPct val="102000"/>
              </a:lnSpc>
              <a:spcBef>
                <a:spcPts val="0"/>
              </a:spcBef>
              <a:spcAft>
                <a:spcPts val="0"/>
              </a:spcAft>
              <a:buNone/>
            </a:pPr>
            <a:r>
              <a:rPr lang="en-US" sz="4500" i="0" u="none" strike="noStrike" cap="none" dirty="0">
                <a:solidFill>
                  <a:srgbClr val="FFFFFF"/>
                </a:solidFill>
              </a:rPr>
              <a:t>Arduino Uno</a:t>
            </a:r>
            <a:endParaRPr sz="4500" dirty="0"/>
          </a:p>
          <a:p>
            <a:pPr marL="0" marR="0" lvl="0" indent="0" rtl="0">
              <a:lnSpc>
                <a:spcPct val="102000"/>
              </a:lnSpc>
              <a:spcBef>
                <a:spcPts val="0"/>
              </a:spcBef>
              <a:spcAft>
                <a:spcPts val="0"/>
              </a:spcAft>
              <a:buNone/>
            </a:pPr>
            <a:r>
              <a:rPr lang="en-US" sz="4500" i="0" u="none" strike="noStrike" cap="none" dirty="0">
                <a:solidFill>
                  <a:srgbClr val="FFFFFF"/>
                </a:solidFill>
              </a:rPr>
              <a:t>DC Motor (100 RPM)</a:t>
            </a:r>
            <a:endParaRPr sz="4500" dirty="0"/>
          </a:p>
          <a:p>
            <a:pPr marL="0" marR="0" lvl="0" indent="0" rtl="0">
              <a:lnSpc>
                <a:spcPct val="102000"/>
              </a:lnSpc>
              <a:spcBef>
                <a:spcPts val="0"/>
              </a:spcBef>
              <a:spcAft>
                <a:spcPts val="0"/>
              </a:spcAft>
              <a:buNone/>
            </a:pPr>
            <a:r>
              <a:rPr lang="en-US" sz="4500" i="0" u="none" strike="noStrike" cap="none" dirty="0">
                <a:solidFill>
                  <a:srgbClr val="FFFFFF"/>
                </a:solidFill>
              </a:rPr>
              <a:t>Motor driver IC (L298N) </a:t>
            </a:r>
            <a:endParaRPr sz="4500" dirty="0"/>
          </a:p>
          <a:p>
            <a:pPr marL="0" marR="0" lvl="0" indent="0" rtl="0">
              <a:lnSpc>
                <a:spcPct val="102000"/>
              </a:lnSpc>
              <a:spcBef>
                <a:spcPts val="0"/>
              </a:spcBef>
              <a:spcAft>
                <a:spcPts val="0"/>
              </a:spcAft>
              <a:buNone/>
            </a:pPr>
            <a:r>
              <a:rPr lang="en-US" sz="4500" i="0" u="none" strike="noStrike" cap="none" dirty="0">
                <a:solidFill>
                  <a:srgbClr val="FFFFFF"/>
                </a:solidFill>
              </a:rPr>
              <a:t>Battery </a:t>
            </a:r>
            <a:r>
              <a:rPr lang="en-US" sz="4500" dirty="0">
                <a:solidFill>
                  <a:srgbClr val="FFFFFF"/>
                </a:solidFill>
              </a:rPr>
              <a:t>LIPO (1000MAH) 2S </a:t>
            </a:r>
            <a:r>
              <a:rPr lang="en-US" sz="4500" i="0" u="none" strike="noStrike" cap="none" dirty="0">
                <a:solidFill>
                  <a:srgbClr val="FFFFFF"/>
                </a:solidFill>
              </a:rPr>
              <a:t> </a:t>
            </a:r>
            <a:endParaRPr sz="4500" dirty="0"/>
          </a:p>
          <a:p>
            <a:pPr marL="0" marR="0" lvl="0" indent="0" rtl="0">
              <a:lnSpc>
                <a:spcPct val="102000"/>
              </a:lnSpc>
              <a:spcBef>
                <a:spcPts val="0"/>
              </a:spcBef>
              <a:spcAft>
                <a:spcPts val="0"/>
              </a:spcAft>
              <a:buNone/>
            </a:pPr>
            <a:r>
              <a:rPr lang="en-US" sz="4500" i="0" u="none" strike="noStrike" cap="none" dirty="0">
                <a:solidFill>
                  <a:srgbClr val="FFFFFF"/>
                </a:solidFill>
              </a:rPr>
              <a:t>Breadboard</a:t>
            </a:r>
          </a:p>
          <a:p>
            <a:pPr marL="0" marR="0" lvl="0" indent="0" rtl="0">
              <a:lnSpc>
                <a:spcPct val="102000"/>
              </a:lnSpc>
              <a:spcBef>
                <a:spcPts val="0"/>
              </a:spcBef>
              <a:spcAft>
                <a:spcPts val="0"/>
              </a:spcAft>
              <a:buNone/>
            </a:pPr>
            <a:r>
              <a:rPr lang="en-US" sz="4500" dirty="0">
                <a:solidFill>
                  <a:srgbClr val="FFFFFF"/>
                </a:solidFill>
              </a:rPr>
              <a:t>ESP 32 Camera Module and Chassis Board</a:t>
            </a:r>
            <a:endParaRPr sz="4500" dirty="0"/>
          </a:p>
        </p:txBody>
      </p:sp>
      <p:sp>
        <p:nvSpPr>
          <p:cNvPr id="171" name="Google Shape;171;p10"/>
          <p:cNvSpPr/>
          <p:nvPr/>
        </p:nvSpPr>
        <p:spPr>
          <a:xfrm>
            <a:off x="0"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72" name="Google Shape;172;p10"/>
          <p:cNvSpPr/>
          <p:nvPr/>
        </p:nvSpPr>
        <p:spPr>
          <a:xfrm>
            <a:off x="152422" y="96538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76"/>
        <p:cNvGrpSpPr/>
        <p:nvPr/>
      </p:nvGrpSpPr>
      <p:grpSpPr>
        <a:xfrm>
          <a:off x="0" y="0"/>
          <a:ext cx="0" cy="0"/>
          <a:chOff x="0" y="0"/>
          <a:chExt cx="0" cy="0"/>
        </a:xfrm>
      </p:grpSpPr>
      <p:sp>
        <p:nvSpPr>
          <p:cNvPr id="177" name="Google Shape;177;p11"/>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78" name="Google Shape;178;p11"/>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179" name="Google Shape;179;p11"/>
          <p:cNvCxnSpPr/>
          <p:nvPr/>
        </p:nvCxnSpPr>
        <p:spPr>
          <a:xfrm rot="2206">
            <a:off x="1527184" y="1620381"/>
            <a:ext cx="14960103" cy="0"/>
          </a:xfrm>
          <a:prstGeom prst="straightConnector1">
            <a:avLst/>
          </a:prstGeom>
          <a:noFill/>
          <a:ln w="9525" cap="rnd" cmpd="sng">
            <a:solidFill>
              <a:srgbClr val="FFFFFF"/>
            </a:solidFill>
            <a:prstDash val="solid"/>
            <a:round/>
            <a:headEnd type="none" w="sm" len="sm"/>
            <a:tailEnd type="none" w="sm" len="sm"/>
          </a:ln>
        </p:spPr>
      </p:cxnSp>
      <p:sp>
        <p:nvSpPr>
          <p:cNvPr id="180" name="Google Shape;180;p11"/>
          <p:cNvSpPr txBox="1"/>
          <p:nvPr/>
        </p:nvSpPr>
        <p:spPr>
          <a:xfrm>
            <a:off x="1691700" y="765173"/>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dirty="0">
                <a:solidFill>
                  <a:srgbClr val="FFFFFF"/>
                </a:solidFill>
              </a:rPr>
              <a:t>ALGORITHM</a:t>
            </a:r>
            <a:r>
              <a:rPr lang="en-US" sz="4500" b="1" dirty="0">
                <a:solidFill>
                  <a:srgbClr val="FFFFFF"/>
                </a:solidFill>
              </a:rPr>
              <a:t>:</a:t>
            </a:r>
            <a:endParaRPr sz="4500" dirty="0"/>
          </a:p>
        </p:txBody>
      </p:sp>
      <p:sp>
        <p:nvSpPr>
          <p:cNvPr id="181" name="Google Shape;181;p11"/>
          <p:cNvSpPr/>
          <p:nvPr/>
        </p:nvSpPr>
        <p:spPr>
          <a:xfrm>
            <a:off x="2607549" y="2274825"/>
            <a:ext cx="11956405" cy="6218533"/>
          </a:xfrm>
          <a:custGeom>
            <a:avLst/>
            <a:gdLst/>
            <a:ahLst/>
            <a:cxnLst/>
            <a:rect l="l" t="t" r="r" b="b"/>
            <a:pathLst>
              <a:path w="10651586" h="6022792" extrusionOk="0">
                <a:moveTo>
                  <a:pt x="0" y="0"/>
                </a:moveTo>
                <a:lnTo>
                  <a:pt x="10651586" y="0"/>
                </a:lnTo>
                <a:lnTo>
                  <a:pt x="10651586" y="6022793"/>
                </a:lnTo>
                <a:lnTo>
                  <a:pt x="0" y="6022793"/>
                </a:lnTo>
                <a:lnTo>
                  <a:pt x="0" y="0"/>
                </a:lnTo>
                <a:close/>
              </a:path>
            </a:pathLst>
          </a:custGeom>
          <a:blipFill rotWithShape="1">
            <a:blip r:embed="rId3">
              <a:alphaModFix/>
            </a:blip>
            <a:stretch>
              <a:fillRect/>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85"/>
        <p:cNvGrpSpPr/>
        <p:nvPr/>
      </p:nvGrpSpPr>
      <p:grpSpPr>
        <a:xfrm>
          <a:off x="0" y="0"/>
          <a:ext cx="0" cy="0"/>
          <a:chOff x="0" y="0"/>
          <a:chExt cx="0" cy="0"/>
        </a:xfrm>
      </p:grpSpPr>
      <p:sp>
        <p:nvSpPr>
          <p:cNvPr id="186" name="Google Shape;186;p12"/>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87" name="Google Shape;187;p12"/>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pic>
        <p:nvPicPr>
          <p:cNvPr id="3" name="Picture 2">
            <a:extLst>
              <a:ext uri="{FF2B5EF4-FFF2-40B4-BE49-F238E27FC236}">
                <a16:creationId xmlns:a16="http://schemas.microsoft.com/office/drawing/2014/main" id="{6F246742-A118-0BAC-7258-1D4818FD1C08}"/>
              </a:ext>
            </a:extLst>
          </p:cNvPr>
          <p:cNvPicPr>
            <a:picLocks noChangeAspect="1"/>
          </p:cNvPicPr>
          <p:nvPr/>
        </p:nvPicPr>
        <p:blipFill>
          <a:blip r:embed="rId3"/>
          <a:stretch>
            <a:fillRect/>
          </a:stretch>
        </p:blipFill>
        <p:spPr>
          <a:xfrm>
            <a:off x="6505334" y="1934322"/>
            <a:ext cx="4968911" cy="7274927"/>
          </a:xfrm>
          <a:prstGeom prst="rect">
            <a:avLst/>
          </a:prstGeom>
        </p:spPr>
      </p:pic>
      <p:cxnSp>
        <p:nvCxnSpPr>
          <p:cNvPr id="4" name="Google Shape;179;p11">
            <a:extLst>
              <a:ext uri="{FF2B5EF4-FFF2-40B4-BE49-F238E27FC236}">
                <a16:creationId xmlns:a16="http://schemas.microsoft.com/office/drawing/2014/main" id="{D7EF650E-7A9E-6E75-1862-33FD36FAA519}"/>
              </a:ext>
            </a:extLst>
          </p:cNvPr>
          <p:cNvCxnSpPr/>
          <p:nvPr/>
        </p:nvCxnSpPr>
        <p:spPr>
          <a:xfrm rot="2206">
            <a:off x="1527184" y="1620381"/>
            <a:ext cx="14960103" cy="0"/>
          </a:xfrm>
          <a:prstGeom prst="straightConnector1">
            <a:avLst/>
          </a:prstGeom>
          <a:noFill/>
          <a:ln w="9525" cap="rnd" cmpd="sng">
            <a:solidFill>
              <a:srgbClr val="FFFFFF"/>
            </a:solidFill>
            <a:prstDash val="solid"/>
            <a:round/>
            <a:headEnd type="none" w="sm" len="sm"/>
            <a:tailEnd type="none" w="sm" len="sm"/>
          </a:ln>
        </p:spPr>
      </p:cxnSp>
      <p:sp>
        <p:nvSpPr>
          <p:cNvPr id="5" name="Google Shape;180;p11">
            <a:extLst>
              <a:ext uri="{FF2B5EF4-FFF2-40B4-BE49-F238E27FC236}">
                <a16:creationId xmlns:a16="http://schemas.microsoft.com/office/drawing/2014/main" id="{5D5343FD-4476-66D4-5FC3-0CB050C4227E}"/>
              </a:ext>
            </a:extLst>
          </p:cNvPr>
          <p:cNvSpPr txBox="1"/>
          <p:nvPr/>
        </p:nvSpPr>
        <p:spPr>
          <a:xfrm>
            <a:off x="1554935" y="765487"/>
            <a:ext cx="14904600" cy="706347"/>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dirty="0">
                <a:solidFill>
                  <a:srgbClr val="FFFFFF"/>
                </a:solidFill>
              </a:rPr>
              <a:t>FLOW CHART:</a:t>
            </a:r>
            <a:endParaRPr sz="4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192"/>
        <p:cNvGrpSpPr/>
        <p:nvPr/>
      </p:nvGrpSpPr>
      <p:grpSpPr>
        <a:xfrm>
          <a:off x="0" y="0"/>
          <a:ext cx="0" cy="0"/>
          <a:chOff x="0" y="0"/>
          <a:chExt cx="0" cy="0"/>
        </a:xfrm>
      </p:grpSpPr>
      <p:sp>
        <p:nvSpPr>
          <p:cNvPr id="193" name="Google Shape;193;p13"/>
          <p:cNvSpPr txBox="1"/>
          <p:nvPr/>
        </p:nvSpPr>
        <p:spPr>
          <a:xfrm>
            <a:off x="1028700" y="1171575"/>
            <a:ext cx="129255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a:solidFill>
                  <a:srgbClr val="FFFFFF"/>
                </a:solidFill>
              </a:rPr>
              <a:t>SOFTWARE SPECIFICATIONS :</a:t>
            </a:r>
            <a:endParaRPr sz="4500"/>
          </a:p>
        </p:txBody>
      </p:sp>
      <p:cxnSp>
        <p:nvCxnSpPr>
          <p:cNvPr id="194" name="Google Shape;194;p13"/>
          <p:cNvCxnSpPr/>
          <p:nvPr/>
        </p:nvCxnSpPr>
        <p:spPr>
          <a:xfrm>
            <a:off x="909300" y="2023594"/>
            <a:ext cx="15729300" cy="53400"/>
          </a:xfrm>
          <a:prstGeom prst="straightConnector1">
            <a:avLst/>
          </a:prstGeom>
          <a:noFill/>
          <a:ln w="38100" cap="flat" cmpd="sng">
            <a:solidFill>
              <a:srgbClr val="FFFFFF"/>
            </a:solidFill>
            <a:prstDash val="solid"/>
            <a:round/>
            <a:headEnd type="none" w="sm" len="sm"/>
            <a:tailEnd type="none" w="sm" len="sm"/>
          </a:ln>
        </p:spPr>
      </p:cxnSp>
      <p:sp>
        <p:nvSpPr>
          <p:cNvPr id="195" name="Google Shape;195;p13"/>
          <p:cNvSpPr txBox="1"/>
          <p:nvPr/>
        </p:nvSpPr>
        <p:spPr>
          <a:xfrm>
            <a:off x="1036338" y="2932245"/>
            <a:ext cx="16215300" cy="39768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8499" b="0" i="0" u="none" strike="noStrike" cap="none">
                <a:solidFill>
                  <a:srgbClr val="FFFFFF"/>
                </a:solidFill>
                <a:latin typeface="Open Sans"/>
                <a:ea typeface="Open Sans"/>
                <a:cs typeface="Open Sans"/>
                <a:sym typeface="Open Sans"/>
              </a:rPr>
              <a:t>Arduino Uno IDE Compiler </a:t>
            </a:r>
            <a:endParaRPr/>
          </a:p>
          <a:p>
            <a:pPr marL="0" marR="0" lvl="0" indent="0" algn="l" rtl="0">
              <a:lnSpc>
                <a:spcPct val="102000"/>
              </a:lnSpc>
              <a:spcBef>
                <a:spcPts val="0"/>
              </a:spcBef>
              <a:spcAft>
                <a:spcPts val="0"/>
              </a:spcAft>
              <a:buNone/>
            </a:pPr>
            <a:r>
              <a:rPr lang="en-US" sz="8499" b="0" i="0" u="none" strike="noStrike" cap="none">
                <a:solidFill>
                  <a:srgbClr val="FFFFFF"/>
                </a:solidFill>
                <a:latin typeface="Open Sans"/>
                <a:ea typeface="Open Sans"/>
                <a:cs typeface="Open Sans"/>
                <a:sym typeface="Open Sans"/>
              </a:rPr>
              <a:t>Programming Language C Compiler</a:t>
            </a:r>
            <a:r>
              <a:rPr lang="en-US" sz="8499" b="0" i="0" u="none" strike="noStrike" cap="none">
                <a:solidFill>
                  <a:srgbClr val="FFFFFF"/>
                </a:solidFill>
                <a:latin typeface="Calibri"/>
                <a:ea typeface="Calibri"/>
                <a:cs typeface="Calibri"/>
                <a:sym typeface="Calibri"/>
              </a:rPr>
              <a:t>﻿</a:t>
            </a:r>
            <a:endParaRPr/>
          </a:p>
        </p:txBody>
      </p:sp>
      <p:sp>
        <p:nvSpPr>
          <p:cNvPr id="196" name="Google Shape;196;p13"/>
          <p:cNvSpPr/>
          <p:nvPr/>
        </p:nvSpPr>
        <p:spPr>
          <a:xfrm>
            <a:off x="-7640"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197" name="Google Shape;197;p13"/>
          <p:cNvSpPr/>
          <p:nvPr/>
        </p:nvSpPr>
        <p:spPr>
          <a:xfrm>
            <a:off x="-7640"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201"/>
        <p:cNvGrpSpPr/>
        <p:nvPr/>
      </p:nvGrpSpPr>
      <p:grpSpPr>
        <a:xfrm>
          <a:off x="0" y="0"/>
          <a:ext cx="0" cy="0"/>
          <a:chOff x="0" y="0"/>
          <a:chExt cx="0" cy="0"/>
        </a:xfrm>
      </p:grpSpPr>
      <p:sp>
        <p:nvSpPr>
          <p:cNvPr id="202" name="Google Shape;202;p14"/>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203" name="Google Shape;203;p14"/>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204" name="Google Shape;204;p14"/>
          <p:cNvCxnSpPr/>
          <p:nvPr/>
        </p:nvCxnSpPr>
        <p:spPr>
          <a:xfrm rot="2188">
            <a:off x="1785534" y="2606767"/>
            <a:ext cx="14959968" cy="0"/>
          </a:xfrm>
          <a:prstGeom prst="straightConnector1">
            <a:avLst/>
          </a:prstGeom>
          <a:noFill/>
          <a:ln w="9525" cap="rnd" cmpd="sng">
            <a:solidFill>
              <a:srgbClr val="FFFFFF"/>
            </a:solidFill>
            <a:prstDash val="solid"/>
            <a:round/>
            <a:headEnd type="none" w="sm" len="sm"/>
            <a:tailEnd type="none" w="sm" len="sm"/>
          </a:ln>
        </p:spPr>
      </p:cxnSp>
      <p:sp>
        <p:nvSpPr>
          <p:cNvPr id="205" name="Google Shape;205;p14"/>
          <p:cNvSpPr txBox="1"/>
          <p:nvPr/>
        </p:nvSpPr>
        <p:spPr>
          <a:xfrm>
            <a:off x="1574735" y="574547"/>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a:solidFill>
                  <a:srgbClr val="FFFFFF"/>
                </a:solidFill>
              </a:rPr>
              <a:t>CODE:</a:t>
            </a:r>
            <a:endParaRPr sz="4500"/>
          </a:p>
        </p:txBody>
      </p:sp>
      <p:sp>
        <p:nvSpPr>
          <p:cNvPr id="206" name="Google Shape;206;p14"/>
          <p:cNvSpPr/>
          <p:nvPr/>
        </p:nvSpPr>
        <p:spPr>
          <a:xfrm>
            <a:off x="1724032" y="1812743"/>
            <a:ext cx="5695944" cy="6853132"/>
          </a:xfrm>
          <a:custGeom>
            <a:avLst/>
            <a:gdLst/>
            <a:ahLst/>
            <a:cxnLst/>
            <a:rect l="l" t="t" r="r" b="b"/>
            <a:pathLst>
              <a:path w="5695944" h="6853132" extrusionOk="0">
                <a:moveTo>
                  <a:pt x="0" y="0"/>
                </a:moveTo>
                <a:lnTo>
                  <a:pt x="5695944" y="0"/>
                </a:lnTo>
                <a:lnTo>
                  <a:pt x="5695944" y="6853132"/>
                </a:lnTo>
                <a:lnTo>
                  <a:pt x="0" y="6853132"/>
                </a:lnTo>
                <a:lnTo>
                  <a:pt x="0" y="0"/>
                </a:lnTo>
                <a:close/>
              </a:path>
            </a:pathLst>
          </a:custGeom>
          <a:blipFill rotWithShape="1">
            <a:blip r:embed="rId3">
              <a:alphaModFix/>
            </a:blip>
            <a:stretch>
              <a:fillRect t="-24010" b="-24010"/>
            </a:stretch>
          </a:blipFill>
          <a:ln>
            <a:noFill/>
          </a:ln>
        </p:spPr>
      </p:sp>
      <p:sp>
        <p:nvSpPr>
          <p:cNvPr id="207" name="Google Shape;207;p14"/>
          <p:cNvSpPr/>
          <p:nvPr/>
        </p:nvSpPr>
        <p:spPr>
          <a:xfrm>
            <a:off x="9369511" y="574546"/>
            <a:ext cx="7437493" cy="7091395"/>
          </a:xfrm>
          <a:custGeom>
            <a:avLst/>
            <a:gdLst/>
            <a:ahLst/>
            <a:cxnLst/>
            <a:rect l="l" t="t" r="r" b="b"/>
            <a:pathLst>
              <a:path w="9048754" h="8469782" extrusionOk="0">
                <a:moveTo>
                  <a:pt x="0" y="0"/>
                </a:moveTo>
                <a:lnTo>
                  <a:pt x="9048754" y="0"/>
                </a:lnTo>
                <a:lnTo>
                  <a:pt x="9048754" y="8469781"/>
                </a:lnTo>
                <a:lnTo>
                  <a:pt x="0" y="8469781"/>
                </a:lnTo>
                <a:lnTo>
                  <a:pt x="0" y="0"/>
                </a:lnTo>
                <a:close/>
              </a:path>
            </a:pathLst>
          </a:custGeom>
          <a:blipFill rotWithShape="1">
            <a:blip r:embed="rId4">
              <a:alphaModFix/>
            </a:blip>
            <a:stretch>
              <a:fillRect t="-30342" b="-30342"/>
            </a:stretch>
          </a:blipFill>
          <a:ln>
            <a:noFill/>
          </a:ln>
        </p:spPr>
      </p:sp>
      <p:sp>
        <p:nvSpPr>
          <p:cNvPr id="3" name="TextBox 2">
            <a:extLst>
              <a:ext uri="{FF2B5EF4-FFF2-40B4-BE49-F238E27FC236}">
                <a16:creationId xmlns:a16="http://schemas.microsoft.com/office/drawing/2014/main" id="{EBB9A562-A37B-A104-E9EA-A7D8658821F5}"/>
              </a:ext>
            </a:extLst>
          </p:cNvPr>
          <p:cNvSpPr txBox="1"/>
          <p:nvPr/>
        </p:nvSpPr>
        <p:spPr>
          <a:xfrm>
            <a:off x="8516257" y="8429819"/>
            <a:ext cx="9285046" cy="369332"/>
          </a:xfrm>
          <a:prstGeom prst="rect">
            <a:avLst/>
          </a:prstGeom>
          <a:noFill/>
        </p:spPr>
        <p:txBody>
          <a:bodyPr wrap="square">
            <a:spAutoFit/>
          </a:bodyPr>
          <a:lstStyle/>
          <a:p>
            <a:r>
              <a:rPr lang="en-IN" sz="1800" b="0" i="0" u="none" strike="noStrike" baseline="0" dirty="0">
                <a:solidFill>
                  <a:srgbClr val="FFFFFF"/>
                </a:solidFill>
                <a:latin typeface="Calibri" panose="020F0502020204030204" pitchFamily="34" charset="0"/>
              </a:rPr>
              <a:t>https://docs.google.com/document/d/1VZsCXU1laurBLp8iJ4u4rB4JzhDPxQ2wisTZtY0xl58/edit</a:t>
            </a:r>
            <a:endParaRPr lang="en-IN"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211"/>
        <p:cNvGrpSpPr/>
        <p:nvPr/>
      </p:nvGrpSpPr>
      <p:grpSpPr>
        <a:xfrm>
          <a:off x="0" y="0"/>
          <a:ext cx="0" cy="0"/>
          <a:chOff x="0" y="0"/>
          <a:chExt cx="0" cy="0"/>
        </a:xfrm>
      </p:grpSpPr>
      <p:sp>
        <p:nvSpPr>
          <p:cNvPr id="212" name="Google Shape;212;p15"/>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213" name="Google Shape;213;p15"/>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214" name="Google Shape;214;p15"/>
          <p:cNvCxnSpPr/>
          <p:nvPr/>
        </p:nvCxnSpPr>
        <p:spPr>
          <a:xfrm rot="2206">
            <a:off x="711521" y="1770431"/>
            <a:ext cx="14960103" cy="0"/>
          </a:xfrm>
          <a:prstGeom prst="straightConnector1">
            <a:avLst/>
          </a:prstGeom>
          <a:noFill/>
          <a:ln w="9525" cap="rnd" cmpd="sng">
            <a:solidFill>
              <a:srgbClr val="FFFFFF"/>
            </a:solidFill>
            <a:prstDash val="solid"/>
            <a:round/>
            <a:headEnd type="none" w="sm" len="sm"/>
            <a:tailEnd type="none" w="sm" len="sm"/>
          </a:ln>
        </p:spPr>
      </p:cxnSp>
      <p:sp>
        <p:nvSpPr>
          <p:cNvPr id="215" name="Google Shape;215;p15"/>
          <p:cNvSpPr txBox="1"/>
          <p:nvPr/>
        </p:nvSpPr>
        <p:spPr>
          <a:xfrm>
            <a:off x="767023" y="889398"/>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dirty="0">
                <a:solidFill>
                  <a:srgbClr val="FFFFFF"/>
                </a:solidFill>
              </a:rPr>
              <a:t>WORKING</a:t>
            </a:r>
            <a:r>
              <a:rPr lang="en-US" sz="4500" b="1" dirty="0">
                <a:solidFill>
                  <a:srgbClr val="FFFFFF"/>
                </a:solidFill>
              </a:rPr>
              <a:t> PROCESS:</a:t>
            </a:r>
            <a:endParaRPr sz="4500" dirty="0"/>
          </a:p>
        </p:txBody>
      </p:sp>
      <p:pic>
        <p:nvPicPr>
          <p:cNvPr id="3" name="Picture 2">
            <a:extLst>
              <a:ext uri="{FF2B5EF4-FFF2-40B4-BE49-F238E27FC236}">
                <a16:creationId xmlns:a16="http://schemas.microsoft.com/office/drawing/2014/main" id="{E822DF21-ED92-F67A-B2E4-4CF5A920899F}"/>
              </a:ext>
            </a:extLst>
          </p:cNvPr>
          <p:cNvPicPr>
            <a:picLocks noChangeAspect="1"/>
          </p:cNvPicPr>
          <p:nvPr/>
        </p:nvPicPr>
        <p:blipFill>
          <a:blip r:embed="rId3"/>
          <a:stretch>
            <a:fillRect/>
          </a:stretch>
        </p:blipFill>
        <p:spPr>
          <a:xfrm>
            <a:off x="997065" y="2305114"/>
            <a:ext cx="5403735" cy="6864204"/>
          </a:xfrm>
          <a:prstGeom prst="rect">
            <a:avLst/>
          </a:prstGeom>
        </p:spPr>
      </p:pic>
      <p:pic>
        <p:nvPicPr>
          <p:cNvPr id="5" name="Picture 4">
            <a:extLst>
              <a:ext uri="{FF2B5EF4-FFF2-40B4-BE49-F238E27FC236}">
                <a16:creationId xmlns:a16="http://schemas.microsoft.com/office/drawing/2014/main" id="{4353AACF-0F39-F740-BB87-33BFAE59B273}"/>
              </a:ext>
            </a:extLst>
          </p:cNvPr>
          <p:cNvPicPr>
            <a:picLocks noChangeAspect="1"/>
          </p:cNvPicPr>
          <p:nvPr/>
        </p:nvPicPr>
        <p:blipFill>
          <a:blip r:embed="rId4"/>
          <a:stretch>
            <a:fillRect/>
          </a:stretch>
        </p:blipFill>
        <p:spPr>
          <a:xfrm>
            <a:off x="7745326" y="2328252"/>
            <a:ext cx="7926297" cy="4219845"/>
          </a:xfrm>
          <a:prstGeom prst="rect">
            <a:avLst/>
          </a:prstGeom>
        </p:spPr>
      </p:pic>
      <p:sp>
        <p:nvSpPr>
          <p:cNvPr id="7" name="TextBox 6">
            <a:extLst>
              <a:ext uri="{FF2B5EF4-FFF2-40B4-BE49-F238E27FC236}">
                <a16:creationId xmlns:a16="http://schemas.microsoft.com/office/drawing/2014/main" id="{0F8CBE81-B64D-305C-11EA-4FC3910F3D41}"/>
              </a:ext>
            </a:extLst>
          </p:cNvPr>
          <p:cNvSpPr txBox="1"/>
          <p:nvPr/>
        </p:nvSpPr>
        <p:spPr>
          <a:xfrm>
            <a:off x="7459978" y="7504368"/>
            <a:ext cx="10522494" cy="400110"/>
          </a:xfrm>
          <a:prstGeom prst="rect">
            <a:avLst/>
          </a:prstGeom>
          <a:noFill/>
        </p:spPr>
        <p:txBody>
          <a:bodyPr wrap="square">
            <a:spAutoFit/>
          </a:bodyPr>
          <a:lstStyle/>
          <a:p>
            <a:r>
              <a:rPr lang="en-IN" sz="2000" dirty="0">
                <a:solidFill>
                  <a:schemeClr val="bg1"/>
                </a:solidFill>
              </a:rPr>
              <a:t>https://drive.google.com/file/d/1Qif9rCUmhN914T6JMdDbRmrxV644sCg-/view?usp=sharing</a:t>
            </a:r>
          </a:p>
        </p:txBody>
      </p:sp>
      <p:sp>
        <p:nvSpPr>
          <p:cNvPr id="9" name="TextBox 8">
            <a:extLst>
              <a:ext uri="{FF2B5EF4-FFF2-40B4-BE49-F238E27FC236}">
                <a16:creationId xmlns:a16="http://schemas.microsoft.com/office/drawing/2014/main" id="{EF80C3BA-C056-954F-8E81-7624E9A2A9D6}"/>
              </a:ext>
            </a:extLst>
          </p:cNvPr>
          <p:cNvSpPr txBox="1"/>
          <p:nvPr/>
        </p:nvSpPr>
        <p:spPr>
          <a:xfrm>
            <a:off x="7449702" y="8145093"/>
            <a:ext cx="10828022" cy="400110"/>
          </a:xfrm>
          <a:prstGeom prst="rect">
            <a:avLst/>
          </a:prstGeom>
          <a:noFill/>
        </p:spPr>
        <p:txBody>
          <a:bodyPr wrap="square">
            <a:spAutoFit/>
          </a:bodyPr>
          <a:lstStyle/>
          <a:p>
            <a:r>
              <a:rPr lang="en-IN" sz="2000" dirty="0">
                <a:solidFill>
                  <a:schemeClr val="bg1"/>
                </a:solidFill>
              </a:rPr>
              <a:t>https://drive.google.com/file/d/1DaLvOC3cCk0MKRzP_5iePOoWFang2LYe/view?usp=sharing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221"/>
        <p:cNvGrpSpPr/>
        <p:nvPr/>
      </p:nvGrpSpPr>
      <p:grpSpPr>
        <a:xfrm>
          <a:off x="0" y="0"/>
          <a:ext cx="0" cy="0"/>
          <a:chOff x="0" y="0"/>
          <a:chExt cx="0" cy="0"/>
        </a:xfrm>
      </p:grpSpPr>
      <p:sp>
        <p:nvSpPr>
          <p:cNvPr id="222" name="Google Shape;222;p16"/>
          <p:cNvSpPr/>
          <p:nvPr/>
        </p:nvSpPr>
        <p:spPr>
          <a:xfrm>
            <a:off x="1" y="9601200"/>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223" name="Google Shape;223;p16"/>
          <p:cNvSpPr/>
          <p:nvPr/>
        </p:nvSpPr>
        <p:spPr>
          <a:xfrm>
            <a:off x="22" y="9501474"/>
            <a:ext cx="18288001" cy="99727"/>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224" name="Google Shape;224;p16"/>
          <p:cNvCxnSpPr/>
          <p:nvPr/>
        </p:nvCxnSpPr>
        <p:spPr>
          <a:xfrm rot="2206">
            <a:off x="1227959" y="1584606"/>
            <a:ext cx="14960103" cy="0"/>
          </a:xfrm>
          <a:prstGeom prst="straightConnector1">
            <a:avLst/>
          </a:prstGeom>
          <a:noFill/>
          <a:ln w="9525" cap="rnd" cmpd="sng">
            <a:solidFill>
              <a:srgbClr val="FFFFFF"/>
            </a:solidFill>
            <a:prstDash val="solid"/>
            <a:round/>
            <a:headEnd type="none" w="sm" len="sm"/>
            <a:tailEnd type="none" w="sm" len="sm"/>
          </a:ln>
        </p:spPr>
      </p:cxnSp>
      <p:sp>
        <p:nvSpPr>
          <p:cNvPr id="225" name="Google Shape;225;p16"/>
          <p:cNvSpPr txBox="1"/>
          <p:nvPr/>
        </p:nvSpPr>
        <p:spPr>
          <a:xfrm>
            <a:off x="1435335" y="681570"/>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a:solidFill>
                  <a:srgbClr val="FFFFFF"/>
                </a:solidFill>
              </a:rPr>
              <a:t>ADVANTAGES AND </a:t>
            </a:r>
            <a:r>
              <a:rPr lang="en-US" sz="4500" b="1">
                <a:solidFill>
                  <a:srgbClr val="FFFFFF"/>
                </a:solidFill>
              </a:rPr>
              <a:t>APPLICATIONS</a:t>
            </a:r>
            <a:r>
              <a:rPr lang="en-US" sz="4500" b="1" i="0" u="none" strike="noStrike" cap="none">
                <a:solidFill>
                  <a:srgbClr val="FFFFFF"/>
                </a:solidFill>
              </a:rPr>
              <a:t>:</a:t>
            </a:r>
            <a:endParaRPr sz="4500"/>
          </a:p>
        </p:txBody>
      </p:sp>
      <p:sp>
        <p:nvSpPr>
          <p:cNvPr id="226" name="Google Shape;226;p16"/>
          <p:cNvSpPr/>
          <p:nvPr/>
        </p:nvSpPr>
        <p:spPr>
          <a:xfrm>
            <a:off x="680225" y="2111225"/>
            <a:ext cx="8144581" cy="5484199"/>
          </a:xfrm>
          <a:custGeom>
            <a:avLst/>
            <a:gdLst/>
            <a:ahLst/>
            <a:cxnLst/>
            <a:rect l="l" t="t" r="r" b="b"/>
            <a:pathLst>
              <a:path w="7558776" h="4647626" extrusionOk="0">
                <a:moveTo>
                  <a:pt x="0" y="0"/>
                </a:moveTo>
                <a:lnTo>
                  <a:pt x="7558776" y="0"/>
                </a:lnTo>
                <a:lnTo>
                  <a:pt x="7558776" y="4647625"/>
                </a:lnTo>
                <a:lnTo>
                  <a:pt x="0" y="4647625"/>
                </a:lnTo>
                <a:lnTo>
                  <a:pt x="0" y="0"/>
                </a:lnTo>
                <a:close/>
              </a:path>
            </a:pathLst>
          </a:custGeom>
          <a:blipFill rotWithShape="1">
            <a:blip r:embed="rId3">
              <a:alphaModFix/>
            </a:blip>
            <a:stretch>
              <a:fillRect/>
            </a:stretch>
          </a:blipFill>
          <a:ln>
            <a:noFill/>
          </a:ln>
        </p:spPr>
      </p:sp>
      <p:sp>
        <p:nvSpPr>
          <p:cNvPr id="227" name="Google Shape;227;p16"/>
          <p:cNvSpPr/>
          <p:nvPr/>
        </p:nvSpPr>
        <p:spPr>
          <a:xfrm>
            <a:off x="9298875" y="2111225"/>
            <a:ext cx="8439246" cy="5484199"/>
          </a:xfrm>
          <a:custGeom>
            <a:avLst/>
            <a:gdLst/>
            <a:ahLst/>
            <a:cxnLst/>
            <a:rect l="l" t="t" r="r" b="b"/>
            <a:pathLst>
              <a:path w="6889180" h="4647626" extrusionOk="0">
                <a:moveTo>
                  <a:pt x="0" y="0"/>
                </a:moveTo>
                <a:lnTo>
                  <a:pt x="6889180" y="0"/>
                </a:lnTo>
                <a:lnTo>
                  <a:pt x="6889180" y="4647625"/>
                </a:lnTo>
                <a:lnTo>
                  <a:pt x="0" y="4647625"/>
                </a:lnTo>
                <a:lnTo>
                  <a:pt x="0" y="0"/>
                </a:lnTo>
                <a:close/>
              </a:path>
            </a:pathLst>
          </a:custGeom>
          <a:blipFill rotWithShape="1">
            <a:blip r:embed="rId4">
              <a:alphaModFix/>
            </a:blip>
            <a:stretch>
              <a:fillRect/>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231"/>
        <p:cNvGrpSpPr/>
        <p:nvPr/>
      </p:nvGrpSpPr>
      <p:grpSpPr>
        <a:xfrm>
          <a:off x="0" y="0"/>
          <a:ext cx="0" cy="0"/>
          <a:chOff x="0" y="0"/>
          <a:chExt cx="0" cy="0"/>
        </a:xfrm>
      </p:grpSpPr>
      <p:sp>
        <p:nvSpPr>
          <p:cNvPr id="232" name="Google Shape;232;p17"/>
          <p:cNvSpPr/>
          <p:nvPr/>
        </p:nvSpPr>
        <p:spPr>
          <a:xfrm>
            <a:off x="22" y="9551337"/>
            <a:ext cx="18288000" cy="685800"/>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233" name="Google Shape;233;p17"/>
          <p:cNvSpPr/>
          <p:nvPr/>
        </p:nvSpPr>
        <p:spPr>
          <a:xfrm>
            <a:off x="-817929" y="9451611"/>
            <a:ext cx="19227460" cy="104850"/>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cxnSp>
        <p:nvCxnSpPr>
          <p:cNvPr id="234" name="Google Shape;234;p17"/>
          <p:cNvCxnSpPr/>
          <p:nvPr/>
        </p:nvCxnSpPr>
        <p:spPr>
          <a:xfrm rot="2206">
            <a:off x="1483534" y="1514906"/>
            <a:ext cx="14960103" cy="0"/>
          </a:xfrm>
          <a:prstGeom prst="straightConnector1">
            <a:avLst/>
          </a:prstGeom>
          <a:noFill/>
          <a:ln w="9525" cap="rnd" cmpd="sng">
            <a:solidFill>
              <a:srgbClr val="FFFFFF"/>
            </a:solidFill>
            <a:prstDash val="solid"/>
            <a:round/>
            <a:headEnd type="none" w="sm" len="sm"/>
            <a:tailEnd type="none" w="sm" len="sm"/>
          </a:ln>
        </p:spPr>
      </p:cxnSp>
      <p:sp>
        <p:nvSpPr>
          <p:cNvPr id="235" name="Google Shape;235;p17"/>
          <p:cNvSpPr txBox="1"/>
          <p:nvPr/>
        </p:nvSpPr>
        <p:spPr>
          <a:xfrm>
            <a:off x="1691723" y="620602"/>
            <a:ext cx="14904600" cy="6927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i="0" u="none" strike="noStrike" cap="none">
                <a:solidFill>
                  <a:srgbClr val="FFFFFF"/>
                </a:solidFill>
              </a:rPr>
              <a:t>REFERENCES:</a:t>
            </a:r>
            <a:endParaRPr sz="4500"/>
          </a:p>
        </p:txBody>
      </p:sp>
      <p:sp>
        <p:nvSpPr>
          <p:cNvPr id="236" name="Google Shape;236;p17"/>
          <p:cNvSpPr txBox="1"/>
          <p:nvPr/>
        </p:nvSpPr>
        <p:spPr>
          <a:xfrm>
            <a:off x="1892925" y="2216251"/>
            <a:ext cx="15326400" cy="6538800"/>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3600" i="0" u="none" strike="noStrike" cap="none">
                <a:solidFill>
                  <a:srgbClr val="FFFFFF"/>
                </a:solidFill>
              </a:rPr>
              <a:t>BOOKS:</a:t>
            </a:r>
            <a:endParaRPr sz="1100"/>
          </a:p>
          <a:p>
            <a:pPr marL="705802" marR="0" lvl="1" indent="-333851" algn="just" rtl="0">
              <a:lnSpc>
                <a:spcPct val="108000"/>
              </a:lnSpc>
              <a:spcBef>
                <a:spcPts val="0"/>
              </a:spcBef>
              <a:spcAft>
                <a:spcPts val="0"/>
              </a:spcAft>
              <a:buClr>
                <a:srgbClr val="FFFFFF"/>
              </a:buClr>
              <a:buSzPts val="3600"/>
              <a:buChar char="•"/>
            </a:pPr>
            <a:r>
              <a:rPr lang="en-US" sz="3600" i="0" u="none" strike="noStrike" cap="none">
                <a:solidFill>
                  <a:srgbClr val="FFFFFF"/>
                </a:solidFill>
              </a:rPr>
              <a:t>D. Florcano and J: Urzelai. "Evolutionary Robots with Online Self-Organization and Behavioral Fitness“.</a:t>
            </a:r>
            <a:endParaRPr sz="1100"/>
          </a:p>
          <a:p>
            <a:pPr marL="705802" marR="0" lvl="1" indent="-333851" algn="just" rtl="0">
              <a:lnSpc>
                <a:spcPct val="108000"/>
              </a:lnSpc>
              <a:spcBef>
                <a:spcPts val="0"/>
              </a:spcBef>
              <a:spcAft>
                <a:spcPts val="0"/>
              </a:spcAft>
              <a:buClr>
                <a:srgbClr val="FFFFFF"/>
              </a:buClr>
              <a:buSzPts val="3600"/>
              <a:buChar char="•"/>
            </a:pPr>
            <a:r>
              <a:rPr lang="en-US" sz="3600" i="0" u="none" strike="noStrike" cap="none">
                <a:solidFill>
                  <a:srgbClr val="FFFFFF"/>
                </a:solidFill>
              </a:rPr>
              <a:t>Oussama Khatib. "Real-Time Obstacle Avoidance for Manipulators and MobileRobots"</a:t>
            </a:r>
            <a:endParaRPr sz="1100"/>
          </a:p>
          <a:p>
            <a:pPr marL="705802" marR="0" lvl="1" indent="-333851" algn="just" rtl="0">
              <a:lnSpc>
                <a:spcPct val="108000"/>
              </a:lnSpc>
              <a:spcBef>
                <a:spcPts val="0"/>
              </a:spcBef>
              <a:spcAft>
                <a:spcPts val="0"/>
              </a:spcAft>
              <a:buClr>
                <a:srgbClr val="FFFFFF"/>
              </a:buClr>
              <a:buSzPts val="3600"/>
              <a:buChar char="•"/>
            </a:pPr>
            <a:r>
              <a:rPr lang="en-US" sz="3600" i="0" u="none" strike="noStrike" cap="none">
                <a:solidFill>
                  <a:srgbClr val="FFFFFF"/>
                </a:solidFill>
              </a:rPr>
              <a:t>Marija Seder. "Hierarchical Path Planning of Mobile robots in Complex </a:t>
            </a:r>
            <a:r>
              <a:rPr lang="en-US" sz="3600">
                <a:solidFill>
                  <a:srgbClr val="FFFFFF"/>
                </a:solidFill>
              </a:rPr>
              <a:t>Indoor Environments</a:t>
            </a:r>
            <a:r>
              <a:rPr lang="en-US" sz="3600" i="0" u="none" strike="noStrike" cap="none">
                <a:solidFill>
                  <a:srgbClr val="FFFFFF"/>
                </a:solidFill>
              </a:rPr>
              <a:t>“</a:t>
            </a:r>
            <a:endParaRPr sz="1100"/>
          </a:p>
          <a:p>
            <a:pPr marL="0" marR="0" lvl="0" indent="0" algn="just" rtl="0">
              <a:lnSpc>
                <a:spcPct val="108000"/>
              </a:lnSpc>
              <a:spcBef>
                <a:spcPts val="0"/>
              </a:spcBef>
              <a:spcAft>
                <a:spcPts val="0"/>
              </a:spcAft>
              <a:buNone/>
            </a:pPr>
            <a:endParaRPr sz="3600">
              <a:solidFill>
                <a:srgbClr val="FFFFFF"/>
              </a:solidFill>
            </a:endParaRPr>
          </a:p>
          <a:p>
            <a:pPr marL="0" marR="0" lvl="0" indent="0" algn="just" rtl="0">
              <a:lnSpc>
                <a:spcPct val="108000"/>
              </a:lnSpc>
              <a:spcBef>
                <a:spcPts val="0"/>
              </a:spcBef>
              <a:spcAft>
                <a:spcPts val="0"/>
              </a:spcAft>
              <a:buNone/>
            </a:pPr>
            <a:r>
              <a:rPr lang="en-US" sz="3600" i="0" u="none" strike="noStrike" cap="none">
                <a:solidFill>
                  <a:srgbClr val="FFFFFF"/>
                </a:solidFill>
              </a:rPr>
              <a:t>WEBSITES:</a:t>
            </a:r>
            <a:endParaRPr sz="1100"/>
          </a:p>
          <a:p>
            <a:pPr marL="705802" marR="0" lvl="1" indent="-333851" algn="just" rtl="0">
              <a:lnSpc>
                <a:spcPct val="108000"/>
              </a:lnSpc>
              <a:spcBef>
                <a:spcPts val="0"/>
              </a:spcBef>
              <a:spcAft>
                <a:spcPts val="0"/>
              </a:spcAft>
              <a:buClr>
                <a:srgbClr val="6B9F25"/>
              </a:buClr>
              <a:buSzPts val="3600"/>
              <a:buChar char="•"/>
            </a:pPr>
            <a:r>
              <a:rPr lang="en-US" sz="3600" i="0" u="sng" strike="noStrike" cap="none">
                <a:solidFill>
                  <a:srgbClr val="6B9F25"/>
                </a:solidFill>
                <a:hlinkClick r:id="rId3">
                  <a:extLst>
                    <a:ext uri="{A12FA001-AC4F-418D-AE19-62706E023703}">
                      <ahyp:hlinkClr xmlns:ahyp="http://schemas.microsoft.com/office/drawing/2018/hyperlinkcolor" val="tx"/>
                    </a:ext>
                  </a:extLst>
                </a:hlinkClick>
              </a:rPr>
              <a:t>http://en.wikipedia.org/wiki/Artificial_intelligence</a:t>
            </a:r>
            <a:endParaRPr sz="1100"/>
          </a:p>
          <a:p>
            <a:pPr marL="705802" marR="0" lvl="1" indent="-333851" algn="just" rtl="0">
              <a:lnSpc>
                <a:spcPct val="108000"/>
              </a:lnSpc>
              <a:spcBef>
                <a:spcPts val="0"/>
              </a:spcBef>
              <a:spcAft>
                <a:spcPts val="0"/>
              </a:spcAft>
              <a:buClr>
                <a:srgbClr val="6B9F25"/>
              </a:buClr>
              <a:buSzPts val="3600"/>
              <a:buChar char="•"/>
            </a:pPr>
            <a:r>
              <a:rPr lang="en-US" sz="3600" i="0" u="sng" strike="noStrike" cap="none">
                <a:solidFill>
                  <a:srgbClr val="6B9F25"/>
                </a:solidFill>
                <a:hlinkClick r:id="rId4">
                  <a:extLst>
                    <a:ext uri="{A12FA001-AC4F-418D-AE19-62706E023703}">
                      <ahyp:hlinkClr xmlns:ahyp="http://schemas.microsoft.com/office/drawing/2018/hyperlinkcolor" val="tx"/>
                    </a:ext>
                  </a:extLst>
                </a:hlinkClick>
              </a:rPr>
              <a:t>http://science.howstuffworks.com/robot2.htm</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240"/>
        <p:cNvGrpSpPr/>
        <p:nvPr/>
      </p:nvGrpSpPr>
      <p:grpSpPr>
        <a:xfrm>
          <a:off x="0" y="0"/>
          <a:ext cx="0" cy="0"/>
          <a:chOff x="0" y="0"/>
          <a:chExt cx="0" cy="0"/>
        </a:xfrm>
      </p:grpSpPr>
      <p:sp>
        <p:nvSpPr>
          <p:cNvPr id="241" name="Google Shape;241;p18"/>
          <p:cNvSpPr/>
          <p:nvPr/>
        </p:nvSpPr>
        <p:spPr>
          <a:xfrm>
            <a:off x="14504670" y="2326005"/>
            <a:ext cx="38100" cy="39053"/>
          </a:xfrm>
          <a:custGeom>
            <a:avLst/>
            <a:gdLst/>
            <a:ahLst/>
            <a:cxnLst/>
            <a:rect l="l" t="t" r="r" b="b"/>
            <a:pathLst>
              <a:path w="50800" h="52070" extrusionOk="0">
                <a:moveTo>
                  <a:pt x="50800" y="17780"/>
                </a:moveTo>
                <a:cubicBezTo>
                  <a:pt x="29210" y="52070"/>
                  <a:pt x="10160" y="46990"/>
                  <a:pt x="5080" y="39370"/>
                </a:cubicBezTo>
                <a:cubicBezTo>
                  <a:pt x="0" y="31750"/>
                  <a:pt x="3810" y="10160"/>
                  <a:pt x="10160" y="5080"/>
                </a:cubicBezTo>
                <a:cubicBezTo>
                  <a:pt x="16510" y="0"/>
                  <a:pt x="44450" y="7620"/>
                  <a:pt x="44450" y="7620"/>
                </a:cubicBezTo>
              </a:path>
            </a:pathLst>
          </a:custGeom>
          <a:solidFill>
            <a:srgbClr val="D1D5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2" name="Google Shape;242;p18"/>
          <p:cNvCxnSpPr/>
          <p:nvPr/>
        </p:nvCxnSpPr>
        <p:spPr>
          <a:xfrm rot="10800000" flipH="1">
            <a:off x="1402025" y="1964325"/>
            <a:ext cx="15819000" cy="63600"/>
          </a:xfrm>
          <a:prstGeom prst="straightConnector1">
            <a:avLst/>
          </a:prstGeom>
          <a:noFill/>
          <a:ln w="38100" cap="flat" cmpd="sng">
            <a:solidFill>
              <a:srgbClr val="FFFFFF"/>
            </a:solidFill>
            <a:prstDash val="solid"/>
            <a:round/>
            <a:headEnd type="none" w="sm" len="sm"/>
            <a:tailEnd type="none" w="sm" len="sm"/>
          </a:ln>
        </p:spPr>
      </p:cxnSp>
      <p:sp>
        <p:nvSpPr>
          <p:cNvPr id="243" name="Google Shape;243;p18"/>
          <p:cNvSpPr txBox="1"/>
          <p:nvPr/>
        </p:nvSpPr>
        <p:spPr>
          <a:xfrm>
            <a:off x="1657839" y="2875179"/>
            <a:ext cx="15593326" cy="5085816"/>
          </a:xfrm>
          <a:prstGeom prst="rect">
            <a:avLst/>
          </a:prstGeom>
          <a:noFill/>
          <a:ln>
            <a:noFill/>
          </a:ln>
        </p:spPr>
        <p:txBody>
          <a:bodyPr spcFirstLastPara="1" wrap="square" lIns="0" tIns="0" rIns="0" bIns="0" anchor="t" anchorCtr="0">
            <a:spAutoFit/>
          </a:bodyPr>
          <a:lstStyle/>
          <a:p>
            <a:pPr lvl="0" algn="just">
              <a:lnSpc>
                <a:spcPct val="102000"/>
              </a:lnSpc>
            </a:pPr>
            <a:r>
              <a:rPr lang="en-US" sz="3600" dirty="0">
                <a:solidFill>
                  <a:schemeClr val="bg1"/>
                </a:solidFill>
              </a:rPr>
              <a:t>The goal of our project is to develop a surveillance bot controlled through a website and integrated with a camera module, representing a significant advancement in remote monitoring technology. This system provides seamless remote access and real-time surveillance capabilities while offering an adaptable solution for various sectors. It addresses critical requirements in security, safety, and operational efficiency. Furthermore, the project demonstrates the potential of modern remote surveillance systems in enhancing situational awareness and ensuring safer operations in challenging environments.</a:t>
            </a:r>
            <a:endParaRPr sz="3600" dirty="0">
              <a:solidFill>
                <a:schemeClr val="bg1"/>
              </a:solidFill>
            </a:endParaRPr>
          </a:p>
        </p:txBody>
      </p:sp>
      <p:sp>
        <p:nvSpPr>
          <p:cNvPr id="244" name="Google Shape;244;p18"/>
          <p:cNvSpPr txBox="1"/>
          <p:nvPr/>
        </p:nvSpPr>
        <p:spPr>
          <a:xfrm>
            <a:off x="674242" y="688725"/>
            <a:ext cx="7795500" cy="13392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4500" b="1">
                <a:solidFill>
                  <a:srgbClr val="FFFFFF"/>
                </a:solidFill>
              </a:rPr>
              <a:t>      CONCLUSION:</a:t>
            </a:r>
            <a:r>
              <a:rPr lang="en-US" sz="8700" b="1" i="0" u="none" strike="noStrike" cap="none">
                <a:solidFill>
                  <a:srgbClr val="FFFFFF"/>
                </a:solidFill>
                <a:latin typeface="Open Sans"/>
                <a:ea typeface="Open Sans"/>
                <a:cs typeface="Open Sans"/>
                <a:sym typeface="Open Sans"/>
              </a:rPr>
              <a:t>   </a:t>
            </a:r>
            <a:endParaRPr/>
          </a:p>
        </p:txBody>
      </p:sp>
      <p:sp>
        <p:nvSpPr>
          <p:cNvPr id="245" name="Google Shape;245;p18"/>
          <p:cNvSpPr/>
          <p:nvPr/>
        </p:nvSpPr>
        <p:spPr>
          <a:xfrm>
            <a:off x="-431743" y="9604011"/>
            <a:ext cx="18993673" cy="103575"/>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sp>
        <p:nvSpPr>
          <p:cNvPr id="246" name="Google Shape;246;p18"/>
          <p:cNvSpPr/>
          <p:nvPr/>
        </p:nvSpPr>
        <p:spPr>
          <a:xfrm>
            <a:off x="-431743" y="9703737"/>
            <a:ext cx="18872166" cy="707706"/>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247" name="Google Shape;247;p18"/>
          <p:cNvSpPr/>
          <p:nvPr/>
        </p:nvSpPr>
        <p:spPr>
          <a:xfrm>
            <a:off x="0" y="9604011"/>
            <a:ext cx="18872166" cy="707706"/>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
        <p:nvSpPr>
          <p:cNvPr id="248" name="Google Shape;248;p18"/>
          <p:cNvSpPr/>
          <p:nvPr/>
        </p:nvSpPr>
        <p:spPr>
          <a:xfrm>
            <a:off x="-665529" y="9604011"/>
            <a:ext cx="19227460" cy="104850"/>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73545"/>
        </a:solidFill>
        <a:effectLst/>
      </p:bgPr>
    </p:bg>
    <p:spTree>
      <p:nvGrpSpPr>
        <p:cNvPr id="1" name="Shape 252"/>
        <p:cNvGrpSpPr/>
        <p:nvPr/>
      </p:nvGrpSpPr>
      <p:grpSpPr>
        <a:xfrm>
          <a:off x="0" y="0"/>
          <a:ext cx="0" cy="0"/>
          <a:chOff x="0" y="0"/>
          <a:chExt cx="0" cy="0"/>
        </a:xfrm>
      </p:grpSpPr>
      <p:sp>
        <p:nvSpPr>
          <p:cNvPr id="253" name="Google Shape;253;p19"/>
          <p:cNvSpPr txBox="1"/>
          <p:nvPr/>
        </p:nvSpPr>
        <p:spPr>
          <a:xfrm>
            <a:off x="4130900" y="3429000"/>
            <a:ext cx="12655800" cy="1924200"/>
          </a:xfrm>
          <a:prstGeom prst="rect">
            <a:avLst/>
          </a:prstGeom>
          <a:noFill/>
          <a:ln>
            <a:noFill/>
          </a:ln>
        </p:spPr>
        <p:txBody>
          <a:bodyPr spcFirstLastPara="1" wrap="square" lIns="0" tIns="0" rIns="0" bIns="0" anchor="t" anchorCtr="0">
            <a:spAutoFit/>
          </a:bodyPr>
          <a:lstStyle/>
          <a:p>
            <a:pPr marL="0" marR="0" lvl="0" indent="0" algn="l" rtl="0">
              <a:lnSpc>
                <a:spcPct val="102000"/>
              </a:lnSpc>
              <a:spcBef>
                <a:spcPts val="0"/>
              </a:spcBef>
              <a:spcAft>
                <a:spcPts val="0"/>
              </a:spcAft>
              <a:buNone/>
            </a:pPr>
            <a:r>
              <a:rPr lang="en-US" sz="12500" i="0" u="none" strike="noStrike" cap="none">
                <a:solidFill>
                  <a:srgbClr val="FFFFFF"/>
                </a:solidFill>
              </a:rPr>
              <a:t>Thank You!!!</a:t>
            </a:r>
            <a:endParaRPr/>
          </a:p>
        </p:txBody>
      </p:sp>
      <p:sp>
        <p:nvSpPr>
          <p:cNvPr id="254" name="Google Shape;254;p19"/>
          <p:cNvSpPr/>
          <p:nvPr/>
        </p:nvSpPr>
        <p:spPr>
          <a:xfrm>
            <a:off x="-469718" y="9474445"/>
            <a:ext cx="19227460" cy="104850"/>
          </a:xfrm>
          <a:custGeom>
            <a:avLst/>
            <a:gdLst/>
            <a:ahLst/>
            <a:cxnLst/>
            <a:rect l="l" t="t" r="r" b="b"/>
            <a:pathLst>
              <a:path w="24384000" h="132969" extrusionOk="0">
                <a:moveTo>
                  <a:pt x="0" y="0"/>
                </a:moveTo>
                <a:lnTo>
                  <a:pt x="24384000" y="0"/>
                </a:lnTo>
                <a:lnTo>
                  <a:pt x="24384000" y="132969"/>
                </a:lnTo>
                <a:lnTo>
                  <a:pt x="0" y="132969"/>
                </a:lnTo>
                <a:close/>
              </a:path>
            </a:pathLst>
          </a:custGeom>
          <a:solidFill>
            <a:srgbClr val="AD84C6"/>
          </a:solidFill>
          <a:ln>
            <a:noFill/>
          </a:ln>
        </p:spPr>
      </p:sp>
      <p:sp>
        <p:nvSpPr>
          <p:cNvPr id="255" name="Google Shape;255;p19"/>
          <p:cNvSpPr/>
          <p:nvPr/>
        </p:nvSpPr>
        <p:spPr>
          <a:xfrm>
            <a:off x="-584166" y="9579294"/>
            <a:ext cx="18872166" cy="707706"/>
          </a:xfrm>
          <a:custGeom>
            <a:avLst/>
            <a:gdLst/>
            <a:ahLst/>
            <a:cxnLst/>
            <a:rect l="l" t="t" r="r" b="b"/>
            <a:pathLst>
              <a:path w="24384000" h="914400" extrusionOk="0">
                <a:moveTo>
                  <a:pt x="0" y="0"/>
                </a:moveTo>
                <a:lnTo>
                  <a:pt x="24384000" y="0"/>
                </a:lnTo>
                <a:lnTo>
                  <a:pt x="24384000" y="914400"/>
                </a:lnTo>
                <a:lnTo>
                  <a:pt x="0" y="914400"/>
                </a:lnTo>
                <a:close/>
              </a:path>
            </a:pathLst>
          </a:custGeom>
          <a:solidFill>
            <a:srgbClr val="5A3471"/>
          </a:solidFill>
          <a:ln>
            <a:noFill/>
          </a:ln>
        </p:spPr>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1095</Words>
  <Application>Microsoft Office PowerPoint</Application>
  <PresentationFormat>Custom</PresentationFormat>
  <Paragraphs>57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Open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kousalya sr</cp:lastModifiedBy>
  <cp:revision>3</cp:revision>
  <dcterms:created xsi:type="dcterms:W3CDTF">2006-08-16T00:00:00Z</dcterms:created>
  <dcterms:modified xsi:type="dcterms:W3CDTF">2026-05-10T19:42:24Z</dcterms:modified>
</cp:coreProperties>
</file>